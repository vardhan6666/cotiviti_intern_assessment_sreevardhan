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3A5C"/>
                </a:solidFill>
                <a:latin typeface="Arial"/>
              </a:defRPr>
            </a:pPr>
            <a:r>
              <a:rPr sz="1100" b="0" i="0" u="none" strike="noStrike">
                <a:solidFill>
                  <a:srgbClr val="1A3A5C"/>
                </a:solidFill>
                <a:latin typeface="Arial"/>
              </a:rPr>
              <a:t>Actual Performance Metrics (%) — Cell 7</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D9488"/>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
(Anomaly)</c:v>
                  </c:pt>
                  <c:pt idx="2">
                    <c:v>Recall
(Anomaly)</c:v>
                  </c:pt>
                  <c:pt idx="3">
                    <c:v>F1
(Anomaly)</c:v>
                  </c:pt>
                  <c:pt idx="4">
                    <c:v>ROC-AUC</c:v>
                  </c:pt>
                </c:lvl>
              </c:multiLvlStrCache>
            </c:multiLvlStrRef>
          </c:cat>
          <c:val>
            <c:numRef>
              <c:f>Sheet1!$B$2:$B$6</c:f>
              <c:numCache>
                <c:formatCode>General</c:formatCode>
                <c:ptCount val="5"/>
                <c:pt idx="0">
                  <c:v>94</c:v>
                </c:pt>
                <c:pt idx="1">
                  <c:v>51</c:v>
                </c:pt>
                <c:pt idx="2">
                  <c:v>89</c:v>
                </c:pt>
                <c:pt idx="3">
                  <c:v>65</c:v>
                </c:pt>
                <c:pt idx="4">
                  <c:v>97.2</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3A5C"/>
                </a:solidFill>
                <a:latin typeface="Arial"/>
              </a:defRPr>
            </a:pPr>
            <a:r>
              <a:rPr sz="1100" b="0" i="0" u="none" strike="noStrike">
                <a:solidFill>
                  <a:srgbClr val="1A3A5C"/>
                </a:solidFill>
                <a:latin typeface="Arial"/>
              </a:rPr>
              <a:t>Anomaly Scores Across 20 Sample Claims</a:t>
            </a:r>
          </a:p>
        </c:rich>
      </c:tx>
      <c:layout/>
      <c:overlay val="0"/>
    </c:title>
    <c:autoTitleDeleted val="0"/>
    <c:plotArea>
      <c:layout/>
      <c:barChart>
        <c:barDir val="col"/>
        <c:grouping val="clustered"/>
        <c:varyColors val="0"/>
        <c:ser>
          <c:idx val="0"/>
          <c:order val="0"/>
          <c:tx>
            <c:strRef>
              <c:f>Sheet1!$B$1</c:f>
              <c:strCache>
                <c:ptCount val="1"/>
                <c:pt idx="0">
                  <c:v>Anomaly Score</c:v>
                </c:pt>
              </c:strCache>
            </c:strRef>
          </c:tx>
          <c:spPr>
            <a:solidFill>
              <a:srgbClr val="0D94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c1</c:v>
                  </c:pt>
                  <c:pt idx="1">
                    <c:v>c2</c:v>
                  </c:pt>
                  <c:pt idx="2">
                    <c:v>c3</c:v>
                  </c:pt>
                  <c:pt idx="3">
                    <c:v>c4</c:v>
                  </c:pt>
                  <c:pt idx="4">
                    <c:v>c5</c:v>
                  </c:pt>
                  <c:pt idx="5">
                    <c:v>c6</c:v>
                  </c:pt>
                  <c:pt idx="6">
                    <c:v>c7</c:v>
                  </c:pt>
                  <c:pt idx="7">
                    <c:v>c8</c:v>
                  </c:pt>
                  <c:pt idx="8">
                    <c:v>c9</c:v>
                  </c:pt>
                  <c:pt idx="9">
                    <c:v>c10</c:v>
                  </c:pt>
                  <c:pt idx="10">
                    <c:v>c11</c:v>
                  </c:pt>
                  <c:pt idx="11">
                    <c:v>c12</c:v>
                  </c:pt>
                  <c:pt idx="12">
                    <c:v>c13</c:v>
                  </c:pt>
                  <c:pt idx="13">
                    <c:v>c14</c:v>
                  </c:pt>
                  <c:pt idx="14">
                    <c:v>c15</c:v>
                  </c:pt>
                  <c:pt idx="15">
                    <c:v>c16</c:v>
                  </c:pt>
                  <c:pt idx="16">
                    <c:v>c17</c:v>
                  </c:pt>
                  <c:pt idx="17">
                    <c:v>c18</c:v>
                  </c:pt>
                  <c:pt idx="18">
                    <c:v>c19</c:v>
                  </c:pt>
                  <c:pt idx="19">
                    <c:v>c20</c:v>
                  </c:pt>
                </c:lvl>
              </c:multiLvlStrCache>
            </c:multiLvlStrRef>
          </c:cat>
          <c:val>
            <c:numRef>
              <c:f>Sheet1!$B$2:$B$21</c:f>
              <c:numCache>
                <c:formatCode>General</c:formatCode>
                <c:ptCount val="20"/>
                <c:pt idx="0">
                  <c:v>0.02</c:v>
                </c:pt>
                <c:pt idx="1">
                  <c:v>0.01</c:v>
                </c:pt>
                <c:pt idx="2">
                  <c:v>0.03</c:v>
                </c:pt>
                <c:pt idx="3">
                  <c:v>0.61</c:v>
                </c:pt>
                <c:pt idx="4">
                  <c:v>0.02</c:v>
                </c:pt>
                <c:pt idx="5">
                  <c:v>0.01</c:v>
                </c:pt>
                <c:pt idx="6">
                  <c:v>0.04</c:v>
                </c:pt>
                <c:pt idx="7">
                  <c:v>0.02</c:v>
                </c:pt>
                <c:pt idx="8">
                  <c:v>0.59</c:v>
                </c:pt>
                <c:pt idx="9">
                  <c:v>0.01</c:v>
                </c:pt>
                <c:pt idx="10">
                  <c:v>0.02</c:v>
                </c:pt>
                <c:pt idx="11">
                  <c:v>0.03</c:v>
                </c:pt>
                <c:pt idx="12">
                  <c:v>0.01</c:v>
                </c:pt>
                <c:pt idx="13">
                  <c:v>0.02</c:v>
                </c:pt>
                <c:pt idx="14">
                  <c:v>0.04</c:v>
                </c:pt>
                <c:pt idx="15">
                  <c:v>0.01</c:v>
                </c:pt>
                <c:pt idx="16">
                  <c:v>0.02</c:v>
                </c:pt>
                <c:pt idx="17">
                  <c:v>0.03</c:v>
                </c:pt>
                <c:pt idx="18">
                  <c:v>0.01</c:v>
                </c:pt>
                <c:pt idx="19">
                  <c:v>0.02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Mention you chose Topic 2 because your background in XGBoost, RAG, FAISS, and agentic AI maps directly to its core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The entire talk follows this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pillars combine in the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stat callouts then walk through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threats directly. Note human-in-the-loop design mitigates regulatory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both recs to Cotiviti's actual market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depth without being wordy.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Agents 2 and 3 only run on flagged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printed numbers from the notebook run — Cell 3 and Cell 5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your EXACT printed numbers from Cell 7: accuracy 0.94, ROC-AUC 0.9723, anomaly recall 0.89, anomaly precision 0.51. High recall with moderate precision is the correct tradeoff for fraud detection — better to over-flag for human review than miss real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SHAP values printed in Cell 11. billed_to_allowed_ratio dominates with +5.0552 — over 7x larger than the next feature. This is the clearest, most interpretable signal a clinical reviewer could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two documents and relevance scores FAISS retrieved for this claim, straight from Cell 11 output. Note the system correctly identified BOTH the Orthopedic procedure concern AND the DME billing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text Agent 3 generated in Cell 11 — word for word from your actual run. Show this slide, then switch to the live Colab screenshare to demonstrate it being generated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side-by-side proves the pipeline discriminates correctly: 0.9683 for the fraudulent-pattern claim vs 0.0006 for the clean claim — a massive, confident separation. Note the normal claim never even reaches Agent 2 or 3, saving compute and reviewer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the system scales — scoring 20 claims instantly. Both flagged claims landed in MEDIUM risk, demonstrating the model isn't just catching obvious extreme cases but also subtler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real numbers — they are genuinely strong and worth being confident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Shape 1"/>
          <p:cNvSpPr/>
          <p:nvPr/>
        </p:nvSpPr>
        <p:spPr>
          <a:xfrm>
            <a:off x="0" y="5079492"/>
            <a:ext cx="9144000" cy="64008"/>
          </a:xfrm>
          <a:prstGeom prst="rect">
            <a:avLst/>
          </a:prstGeom>
          <a:solidFill>
            <a:srgbClr val="0D9488"/>
          </a:solidFill>
          <a:ln w="12700">
            <a:solidFill>
              <a:srgbClr val="0D9488"/>
            </a:solidFill>
            <a:prstDash val="solid"/>
          </a:ln>
        </p:spPr>
      </p:sp>
      <p:sp>
        <p:nvSpPr>
          <p:cNvPr id="4" name="Text 2"/>
          <p:cNvSpPr/>
          <p:nvPr/>
        </p:nvSpPr>
        <p:spPr>
          <a:xfrm>
            <a:off x="548640" y="457200"/>
            <a:ext cx="8046720" cy="2011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Clinical Decision Making &amp;</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Pattern Recognition in Health Care</a:t>
            </a:r>
            <a:endParaRPr lang="en-US" sz="3600" dirty="0"/>
          </a:p>
        </p:txBody>
      </p:sp>
      <p:sp>
        <p:nvSpPr>
          <p:cNvPr id="5" name="Text 3"/>
          <p:cNvSpPr/>
          <p:nvPr/>
        </p:nvSpPr>
        <p:spPr>
          <a:xfrm>
            <a:off x="548640" y="2423160"/>
            <a:ext cx="8046720" cy="457200"/>
          </a:xfrm>
          <a:prstGeom prst="rect">
            <a:avLst/>
          </a:prstGeom>
          <a:noFill/>
          <a:ln/>
        </p:spPr>
        <p:txBody>
          <a:bodyPr wrap="square" rtlCol="0" anchor="ctr"/>
          <a:lstStyle/>
          <a:p>
            <a:pPr indent="0" marL="0">
              <a:buNone/>
            </a:pPr>
            <a:r>
              <a:rPr lang="en-US" sz="1600" i="1" dirty="0">
                <a:solidFill>
                  <a:srgbClr val="14B8A6"/>
                </a:solidFill>
                <a:latin typeface="Calibri" pitchFamily="34" charset="0"/>
                <a:ea typeface="Calibri" pitchFamily="34" charset="-122"/>
                <a:cs typeface="Calibri" pitchFamily="34" charset="-120"/>
              </a:rPr>
              <a:t>Agentic AI  ·  XGBoost + SHAP  ·  RAG with FAISS  ·  3-Agent Pipeline</a:t>
            </a:r>
            <a:endParaRPr lang="en-US" sz="1600" dirty="0"/>
          </a:p>
        </p:txBody>
      </p:sp>
      <p:sp>
        <p:nvSpPr>
          <p:cNvPr id="6" name="Shape 4"/>
          <p:cNvSpPr/>
          <p:nvPr/>
        </p:nvSpPr>
        <p:spPr>
          <a:xfrm>
            <a:off x="548640" y="2971800"/>
            <a:ext cx="8046720" cy="0"/>
          </a:xfrm>
          <a:prstGeom prst="line">
            <a:avLst/>
          </a:prstGeom>
          <a:noFill/>
          <a:ln w="19050">
            <a:solidFill>
              <a:srgbClr val="0D9488"/>
            </a:solidFill>
            <a:prstDash val="solid"/>
          </a:ln>
        </p:spPr>
      </p:sp>
      <p:sp>
        <p:nvSpPr>
          <p:cNvPr id="7" name="Text 5"/>
          <p:cNvSpPr/>
          <p:nvPr/>
        </p:nvSpPr>
        <p:spPr>
          <a:xfrm>
            <a:off x="548640" y="3154680"/>
            <a:ext cx="8046720" cy="384048"/>
          </a:xfrm>
          <a:prstGeom prst="rect">
            <a:avLst/>
          </a:prstGeom>
          <a:noFill/>
          <a:ln/>
        </p:spPr>
        <p:txBody>
          <a:bodyPr wrap="square" rtlCol="0" anchor="ctr"/>
          <a:lstStyle/>
          <a:p>
            <a:pPr indent="0" marL="0">
              <a:buNone/>
            </a:pPr>
            <a:r>
              <a:rPr lang="en-US" sz="1300" b="1" dirty="0">
                <a:solidFill>
                  <a:srgbClr val="AABFD6"/>
                </a:solidFill>
                <a:latin typeface="Calibri" pitchFamily="34" charset="0"/>
                <a:ea typeface="Calibri" pitchFamily="34" charset="-122"/>
                <a:cs typeface="Calibri" pitchFamily="34" charset="-120"/>
              </a:rPr>
              <a:t>Sree Vardhan Sunkara</a:t>
            </a:r>
            <a:pPr indent="0" marL="0">
              <a:buNone/>
            </a:pPr>
            <a:r>
              <a:rPr lang="en-US" sz="1300" dirty="0">
                <a:solidFill>
                  <a:srgbClr val="AABFD6"/>
                </a:solidFill>
                <a:latin typeface="Calibri" pitchFamily="34" charset="0"/>
                <a:ea typeface="Calibri" pitchFamily="34" charset="-122"/>
                <a:cs typeface="Calibri" pitchFamily="34" charset="-120"/>
              </a:rPr>
              <a:t>   |   University of Houston   |   Cotiviti Intern Assessment   |   June 2026</a:t>
            </a:r>
            <a:endParaRPr lang="en-US" sz="1300" dirty="0"/>
          </a:p>
        </p:txBody>
      </p:sp>
      <p:sp>
        <p:nvSpPr>
          <p:cNvPr id="8" name="Text 6"/>
          <p:cNvSpPr/>
          <p:nvPr/>
        </p:nvSpPr>
        <p:spPr>
          <a:xfrm>
            <a:off x="548640" y="3657600"/>
            <a:ext cx="8046720"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Topic 2: Clinical Decision Making &amp; Pattern Recognition in Health Care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3200" b="1" dirty="0">
                <a:solidFill>
                  <a:srgbClr val="0D2137"/>
                </a:solidFill>
                <a:latin typeface="Calibri" pitchFamily="34" charset="0"/>
                <a:ea typeface="Calibri" pitchFamily="34" charset="-122"/>
                <a:cs typeface="Calibri" pitchFamily="34" charset="-120"/>
              </a:rPr>
              <a:t>Agenda</a:t>
            </a:r>
            <a:endParaRPr lang="en-US" sz="3200" dirty="0"/>
          </a:p>
        </p:txBody>
      </p:sp>
      <p:sp>
        <p:nvSpPr>
          <p:cNvPr id="3" name="Shape 1"/>
          <p:cNvSpPr/>
          <p:nvPr/>
        </p:nvSpPr>
        <p:spPr>
          <a:xfrm>
            <a:off x="457200" y="868680"/>
            <a:ext cx="8229600" cy="0"/>
          </a:xfrm>
          <a:prstGeom prst="line">
            <a:avLst/>
          </a:prstGeom>
          <a:noFill/>
          <a:ln w="25400">
            <a:solidFill>
              <a:srgbClr val="0D9488"/>
            </a:solidFill>
            <a:prstDash val="solid"/>
          </a:ln>
        </p:spPr>
      </p:sp>
      <p:sp>
        <p:nvSpPr>
          <p:cNvPr id="4" name="Shape 2"/>
          <p:cNvSpPr/>
          <p:nvPr/>
        </p:nvSpPr>
        <p:spPr>
          <a:xfrm>
            <a:off x="457200" y="1005840"/>
            <a:ext cx="530352" cy="438912"/>
          </a:xfrm>
          <a:prstGeom prst="roundRect">
            <a:avLst>
              <a:gd name="adj" fmla="val 10417"/>
            </a:avLst>
          </a:prstGeom>
          <a:solidFill>
            <a:srgbClr val="0D9488"/>
          </a:solidFill>
          <a:ln/>
          <a:effectLst>
            <a:outerShdw sx="100000" sy="100000" kx="0" ky="0" algn="bl" rotWithShape="0" blurRad="76200" dist="25400" dir="2700000">
              <a:srgbClr val="000000">
                <a:alpha val="13000"/>
              </a:srgbClr>
            </a:outerShdw>
          </a:effectLst>
        </p:spPr>
      </p:sp>
      <p:sp>
        <p:nvSpPr>
          <p:cNvPr id="5" name="Text 3"/>
          <p:cNvSpPr/>
          <p:nvPr/>
        </p:nvSpPr>
        <p:spPr>
          <a:xfrm>
            <a:off x="457200" y="1005840"/>
            <a:ext cx="53035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097280" y="1033272"/>
            <a:ext cx="2743200" cy="237744"/>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Concept &amp; Definition</a:t>
            </a:r>
            <a:endParaRPr lang="en-US" sz="1300" dirty="0"/>
          </a:p>
        </p:txBody>
      </p:sp>
      <p:sp>
        <p:nvSpPr>
          <p:cNvPr id="7" name="Text 5"/>
          <p:cNvSpPr/>
          <p:nvPr/>
        </p:nvSpPr>
        <p:spPr>
          <a:xfrm>
            <a:off x="1097280" y="1252728"/>
            <a:ext cx="7589520" cy="1828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What clinical decision making + pattern recognition means for TPO</a:t>
            </a:r>
            <a:endParaRPr lang="en-US" sz="1000" dirty="0"/>
          </a:p>
        </p:txBody>
      </p:sp>
      <p:sp>
        <p:nvSpPr>
          <p:cNvPr id="8" name="Shape 6"/>
          <p:cNvSpPr/>
          <p:nvPr/>
        </p:nvSpPr>
        <p:spPr>
          <a:xfrm>
            <a:off x="457200" y="1581912"/>
            <a:ext cx="530352" cy="438912"/>
          </a:xfrm>
          <a:prstGeom prst="roundRect">
            <a:avLst>
              <a:gd name="adj" fmla="val 10417"/>
            </a:avLst>
          </a:prstGeom>
          <a:solidFill>
            <a:srgbClr val="0D9488"/>
          </a:solidFill>
          <a:ln/>
          <a:effectLst>
            <a:outerShdw sx="100000" sy="100000" kx="0" ky="0" algn="bl" rotWithShape="0" blurRad="76200" dist="25400" dir="2700000">
              <a:srgbClr val="000000">
                <a:alpha val="13000"/>
              </a:srgbClr>
            </a:outerShdw>
          </a:effectLst>
        </p:spPr>
      </p:sp>
      <p:sp>
        <p:nvSpPr>
          <p:cNvPr id="9" name="Text 7"/>
          <p:cNvSpPr/>
          <p:nvPr/>
        </p:nvSpPr>
        <p:spPr>
          <a:xfrm>
            <a:off x="457200" y="1581912"/>
            <a:ext cx="53035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0" name="Text 8"/>
          <p:cNvSpPr/>
          <p:nvPr/>
        </p:nvSpPr>
        <p:spPr>
          <a:xfrm>
            <a:off x="1097280" y="1609344"/>
            <a:ext cx="2743200" cy="237744"/>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Key Industry Trends</a:t>
            </a:r>
            <a:endParaRPr lang="en-US" sz="1300" dirty="0"/>
          </a:p>
        </p:txBody>
      </p:sp>
      <p:sp>
        <p:nvSpPr>
          <p:cNvPr id="11" name="Text 9"/>
          <p:cNvSpPr/>
          <p:nvPr/>
        </p:nvSpPr>
        <p:spPr>
          <a:xfrm>
            <a:off x="1097280" y="1828800"/>
            <a:ext cx="7589520" cy="1828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Agentic AI, RAG, SHAP explainability, payment integrity data</a:t>
            </a:r>
            <a:endParaRPr lang="en-US" sz="1000" dirty="0"/>
          </a:p>
        </p:txBody>
      </p:sp>
      <p:sp>
        <p:nvSpPr>
          <p:cNvPr id="12" name="Shape 10"/>
          <p:cNvSpPr/>
          <p:nvPr/>
        </p:nvSpPr>
        <p:spPr>
          <a:xfrm>
            <a:off x="457200" y="2157984"/>
            <a:ext cx="530352" cy="438912"/>
          </a:xfrm>
          <a:prstGeom prst="roundRect">
            <a:avLst>
              <a:gd name="adj" fmla="val 10417"/>
            </a:avLst>
          </a:prstGeom>
          <a:solidFill>
            <a:srgbClr val="0D9488"/>
          </a:solidFill>
          <a:ln/>
          <a:effectLst>
            <a:outerShdw sx="100000" sy="100000" kx="0" ky="0" algn="bl" rotWithShape="0" blurRad="76200" dist="25400" dir="2700000">
              <a:srgbClr val="000000">
                <a:alpha val="13000"/>
              </a:srgbClr>
            </a:outerShdw>
          </a:effectLst>
        </p:spPr>
      </p:sp>
      <p:sp>
        <p:nvSpPr>
          <p:cNvPr id="13" name="Text 11"/>
          <p:cNvSpPr/>
          <p:nvPr/>
        </p:nvSpPr>
        <p:spPr>
          <a:xfrm>
            <a:off x="457200" y="2157984"/>
            <a:ext cx="53035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1097280" y="2185416"/>
            <a:ext cx="2743200" cy="237744"/>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Opportunities &amp; Threats</a:t>
            </a:r>
            <a:endParaRPr lang="en-US" sz="1300" dirty="0"/>
          </a:p>
        </p:txBody>
      </p:sp>
      <p:sp>
        <p:nvSpPr>
          <p:cNvPr id="15" name="Text 13"/>
          <p:cNvSpPr/>
          <p:nvPr/>
        </p:nvSpPr>
        <p:spPr>
          <a:xfrm>
            <a:off x="1097280" y="2404872"/>
            <a:ext cx="7589520" cy="1828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Where AI wins — and where it risks failing in healthcare</a:t>
            </a:r>
            <a:endParaRPr lang="en-US" sz="1000" dirty="0"/>
          </a:p>
        </p:txBody>
      </p:sp>
      <p:sp>
        <p:nvSpPr>
          <p:cNvPr id="16" name="Shape 14"/>
          <p:cNvSpPr/>
          <p:nvPr/>
        </p:nvSpPr>
        <p:spPr>
          <a:xfrm>
            <a:off x="457200" y="2734056"/>
            <a:ext cx="530352" cy="438912"/>
          </a:xfrm>
          <a:prstGeom prst="roundRect">
            <a:avLst>
              <a:gd name="adj" fmla="val 10417"/>
            </a:avLst>
          </a:prstGeom>
          <a:solidFill>
            <a:srgbClr val="0D9488"/>
          </a:solidFill>
          <a:ln/>
          <a:effectLst>
            <a:outerShdw sx="100000" sy="100000" kx="0" ky="0" algn="bl" rotWithShape="0" blurRad="76200" dist="25400" dir="2700000">
              <a:srgbClr val="000000">
                <a:alpha val="13000"/>
              </a:srgbClr>
            </a:outerShdw>
          </a:effectLst>
        </p:spPr>
      </p:sp>
      <p:sp>
        <p:nvSpPr>
          <p:cNvPr id="17" name="Text 15"/>
          <p:cNvSpPr/>
          <p:nvPr/>
        </p:nvSpPr>
        <p:spPr>
          <a:xfrm>
            <a:off x="457200" y="2734056"/>
            <a:ext cx="53035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8" name="Text 16"/>
          <p:cNvSpPr/>
          <p:nvPr/>
        </p:nvSpPr>
        <p:spPr>
          <a:xfrm>
            <a:off x="1097280" y="2761488"/>
            <a:ext cx="2743200" cy="237744"/>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Strategic Recommendations</a:t>
            </a:r>
            <a:endParaRPr lang="en-US" sz="1300" dirty="0"/>
          </a:p>
        </p:txBody>
      </p:sp>
      <p:sp>
        <p:nvSpPr>
          <p:cNvPr id="19" name="Text 17"/>
          <p:cNvSpPr/>
          <p:nvPr/>
        </p:nvSpPr>
        <p:spPr>
          <a:xfrm>
            <a:off x="1097280" y="2980944"/>
            <a:ext cx="7589520" cy="1828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Two concrete investment proposals tailored to Cotiviti</a:t>
            </a:r>
            <a:endParaRPr lang="en-US" sz="1000" dirty="0"/>
          </a:p>
        </p:txBody>
      </p:sp>
      <p:sp>
        <p:nvSpPr>
          <p:cNvPr id="20" name="Shape 18"/>
          <p:cNvSpPr/>
          <p:nvPr/>
        </p:nvSpPr>
        <p:spPr>
          <a:xfrm>
            <a:off x="457200" y="3310128"/>
            <a:ext cx="530352" cy="438912"/>
          </a:xfrm>
          <a:prstGeom prst="roundRect">
            <a:avLst>
              <a:gd name="adj" fmla="val 10417"/>
            </a:avLst>
          </a:prstGeom>
          <a:solidFill>
            <a:srgbClr val="0D9488"/>
          </a:solidFill>
          <a:ln/>
          <a:effectLst>
            <a:outerShdw sx="100000" sy="100000" kx="0" ky="0" algn="bl" rotWithShape="0" blurRad="76200" dist="25400" dir="2700000">
              <a:srgbClr val="000000">
                <a:alpha val="13000"/>
              </a:srgbClr>
            </a:outerShdw>
          </a:effectLst>
        </p:spPr>
      </p:sp>
      <p:sp>
        <p:nvSpPr>
          <p:cNvPr id="21" name="Text 19"/>
          <p:cNvSpPr/>
          <p:nvPr/>
        </p:nvSpPr>
        <p:spPr>
          <a:xfrm>
            <a:off x="457200" y="3310128"/>
            <a:ext cx="53035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2" name="Text 20"/>
          <p:cNvSpPr/>
          <p:nvPr/>
        </p:nvSpPr>
        <p:spPr>
          <a:xfrm>
            <a:off x="1097280" y="3337560"/>
            <a:ext cx="2743200" cy="237744"/>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Technology Stack</a:t>
            </a:r>
            <a:endParaRPr lang="en-US" sz="1300" dirty="0"/>
          </a:p>
        </p:txBody>
      </p:sp>
      <p:sp>
        <p:nvSpPr>
          <p:cNvPr id="23" name="Text 21"/>
          <p:cNvSpPr/>
          <p:nvPr/>
        </p:nvSpPr>
        <p:spPr>
          <a:xfrm>
            <a:off x="1097280" y="3557016"/>
            <a:ext cx="7589520" cy="1828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Every library used, why it was chosen, what it does</a:t>
            </a:r>
            <a:endParaRPr lang="en-US" sz="1000" dirty="0"/>
          </a:p>
        </p:txBody>
      </p:sp>
      <p:sp>
        <p:nvSpPr>
          <p:cNvPr id="24" name="Shape 22"/>
          <p:cNvSpPr/>
          <p:nvPr/>
        </p:nvSpPr>
        <p:spPr>
          <a:xfrm>
            <a:off x="457200" y="3886200"/>
            <a:ext cx="530352" cy="438912"/>
          </a:xfrm>
          <a:prstGeom prst="roundRect">
            <a:avLst>
              <a:gd name="adj" fmla="val 10417"/>
            </a:avLst>
          </a:prstGeom>
          <a:solidFill>
            <a:srgbClr val="0D9488"/>
          </a:solidFill>
          <a:ln/>
          <a:effectLst>
            <a:outerShdw sx="100000" sy="100000" kx="0" ky="0" algn="bl" rotWithShape="0" blurRad="76200" dist="25400" dir="2700000">
              <a:srgbClr val="000000">
                <a:alpha val="13000"/>
              </a:srgbClr>
            </a:outerShdw>
          </a:effectLst>
        </p:spPr>
      </p:sp>
      <p:sp>
        <p:nvSpPr>
          <p:cNvPr id="25" name="Text 23"/>
          <p:cNvSpPr/>
          <p:nvPr/>
        </p:nvSpPr>
        <p:spPr>
          <a:xfrm>
            <a:off x="457200" y="3886200"/>
            <a:ext cx="53035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6" name="Text 24"/>
          <p:cNvSpPr/>
          <p:nvPr/>
        </p:nvSpPr>
        <p:spPr>
          <a:xfrm>
            <a:off x="1097280" y="3913632"/>
            <a:ext cx="2743200" cy="237744"/>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POC Architecture</a:t>
            </a:r>
            <a:endParaRPr lang="en-US" sz="1300" dirty="0"/>
          </a:p>
        </p:txBody>
      </p:sp>
      <p:sp>
        <p:nvSpPr>
          <p:cNvPr id="27" name="Text 25"/>
          <p:cNvSpPr/>
          <p:nvPr/>
        </p:nvSpPr>
        <p:spPr>
          <a:xfrm>
            <a:off x="1097280" y="4133088"/>
            <a:ext cx="7589520" cy="1828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3-agent pipeline design and data flow</a:t>
            </a:r>
            <a:endParaRPr lang="en-US" sz="1000" dirty="0"/>
          </a:p>
        </p:txBody>
      </p:sp>
      <p:sp>
        <p:nvSpPr>
          <p:cNvPr id="28" name="Shape 26"/>
          <p:cNvSpPr/>
          <p:nvPr/>
        </p:nvSpPr>
        <p:spPr>
          <a:xfrm>
            <a:off x="457200" y="4462272"/>
            <a:ext cx="530352" cy="438912"/>
          </a:xfrm>
          <a:prstGeom prst="roundRect">
            <a:avLst>
              <a:gd name="adj" fmla="val 10417"/>
            </a:avLst>
          </a:prstGeom>
          <a:solidFill>
            <a:srgbClr val="0D9488"/>
          </a:solidFill>
          <a:ln/>
          <a:effectLst>
            <a:outerShdw sx="100000" sy="100000" kx="0" ky="0" algn="bl" rotWithShape="0" blurRad="76200" dist="25400" dir="2700000">
              <a:srgbClr val="000000">
                <a:alpha val="13000"/>
              </a:srgbClr>
            </a:outerShdw>
          </a:effectLst>
        </p:spPr>
      </p:sp>
      <p:sp>
        <p:nvSpPr>
          <p:cNvPr id="29" name="Text 27"/>
          <p:cNvSpPr/>
          <p:nvPr/>
        </p:nvSpPr>
        <p:spPr>
          <a:xfrm>
            <a:off x="457200" y="4462272"/>
            <a:ext cx="53035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0" name="Text 28"/>
          <p:cNvSpPr/>
          <p:nvPr/>
        </p:nvSpPr>
        <p:spPr>
          <a:xfrm>
            <a:off x="1097280" y="4489704"/>
            <a:ext cx="2743200" cy="237744"/>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Actual Results</a:t>
            </a:r>
            <a:endParaRPr lang="en-US" sz="1300" dirty="0"/>
          </a:p>
        </p:txBody>
      </p:sp>
      <p:sp>
        <p:nvSpPr>
          <p:cNvPr id="31" name="Text 29"/>
          <p:cNvSpPr/>
          <p:nvPr/>
        </p:nvSpPr>
        <p:spPr>
          <a:xfrm>
            <a:off x="1097280" y="4709160"/>
            <a:ext cx="7589520" cy="1828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Real model performance, SHAP output, and reviewer brief from the notebook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Is Clinical Decision Making &amp; Pattern Recognition?</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Using ML, Agentic AI, and Analytics to support Treatment, Payment &amp; Operations (TPO)</a:t>
            </a:r>
            <a:endParaRPr lang="en-US" sz="1200" dirty="0"/>
          </a:p>
        </p:txBody>
      </p:sp>
      <p:sp>
        <p:nvSpPr>
          <p:cNvPr id="5" name="Shape 3"/>
          <p:cNvSpPr/>
          <p:nvPr/>
        </p:nvSpPr>
        <p:spPr>
          <a:xfrm>
            <a:off x="274320" y="1097280"/>
            <a:ext cx="2788920" cy="3749040"/>
          </a:xfrm>
          <a:prstGeom prst="roundRect">
            <a:avLst>
              <a:gd name="adj" fmla="val 3279"/>
            </a:avLst>
          </a:prstGeom>
          <a:solidFill>
            <a:srgbClr val="F0F7FF"/>
          </a:solidFill>
          <a:ln/>
          <a:effectLst>
            <a:outerShdw sx="100000" sy="100000" kx="0" ky="0" algn="bl" rotWithShape="0" blurRad="76200" dist="25400" dir="2700000">
              <a:srgbClr val="000000">
                <a:alpha val="13000"/>
              </a:srgbClr>
            </a:outerShdw>
          </a:effectLst>
        </p:spPr>
      </p:sp>
      <p:sp>
        <p:nvSpPr>
          <p:cNvPr id="6" name="Shape 4"/>
          <p:cNvSpPr/>
          <p:nvPr/>
        </p:nvSpPr>
        <p:spPr>
          <a:xfrm>
            <a:off x="1298448" y="1234440"/>
            <a:ext cx="713232" cy="713232"/>
          </a:xfrm>
          <a:prstGeom prst="ellipse">
            <a:avLst/>
          </a:prstGeom>
          <a:solidFill>
            <a:srgbClr val="0D9488"/>
          </a:solidFill>
          <a:ln w="12700">
            <a:solidFill>
              <a:srgbClr val="0D9488"/>
            </a:solidFill>
            <a:prstDash val="solid"/>
          </a:ln>
        </p:spPr>
      </p:sp>
      <p:pic>
        <p:nvPicPr>
          <p:cNvPr id="7" name="Image 0" descr="preencoded.png">    </p:cNvPr>
          <p:cNvPicPr>
            <a:picLocks noChangeAspect="1"/>
          </p:cNvPicPr>
          <p:nvPr/>
        </p:nvPicPr>
        <p:blipFill>
          <a:blip r:embed="rId1"/>
          <a:stretch>
            <a:fillRect/>
          </a:stretch>
        </p:blipFill>
        <p:spPr>
          <a:xfrm>
            <a:off x="1399032" y="1325880"/>
            <a:ext cx="512064" cy="512064"/>
          </a:xfrm>
          <a:prstGeom prst="rect">
            <a:avLst/>
          </a:prstGeom>
        </p:spPr>
      </p:pic>
      <p:sp>
        <p:nvSpPr>
          <p:cNvPr id="8" name="Text 5"/>
          <p:cNvSpPr/>
          <p:nvPr/>
        </p:nvSpPr>
        <p:spPr>
          <a:xfrm>
            <a:off x="274320" y="2029968"/>
            <a:ext cx="2788920" cy="566928"/>
          </a:xfrm>
          <a:prstGeom prst="rect">
            <a:avLst/>
          </a:prstGeom>
          <a:noFill/>
          <a:ln/>
        </p:spPr>
        <p:txBody>
          <a:bodyPr wrap="square" rtlCol="0" anchor="ctr"/>
          <a:lstStyle/>
          <a:p>
            <a:pPr algn="ctr" indent="0" marL="0">
              <a:buNone/>
            </a:pPr>
            <a:r>
              <a:rPr lang="en-US" sz="1300" b="1" dirty="0">
                <a:solidFill>
                  <a:srgbClr val="0D2137"/>
                </a:solidFill>
                <a:latin typeface="Calibri" pitchFamily="34" charset="0"/>
                <a:ea typeface="Calibri" pitchFamily="34" charset="-122"/>
                <a:cs typeface="Calibri" pitchFamily="34" charset="-120"/>
              </a:rPr>
              <a:t>Classification</a:t>
            </a:r>
            <a:endParaRPr lang="en-US" sz="1300" dirty="0"/>
          </a:p>
          <a:p>
            <a:pPr algn="ctr" indent="0" marL="0">
              <a:buNone/>
            </a:pPr>
            <a:r>
              <a:rPr lang="en-US" sz="1300" b="1" dirty="0">
                <a:solidFill>
                  <a:srgbClr val="0D2137"/>
                </a:solidFill>
                <a:latin typeface="Calibri" pitchFamily="34" charset="0"/>
                <a:ea typeface="Calibri" pitchFamily="34" charset="-122"/>
                <a:cs typeface="Calibri" pitchFamily="34" charset="-120"/>
              </a:rPr>
              <a:t>&amp; Prediction</a:t>
            </a:r>
            <a:endParaRPr lang="en-US" sz="1300" dirty="0"/>
          </a:p>
        </p:txBody>
      </p:sp>
      <p:sp>
        <p:nvSpPr>
          <p:cNvPr id="9" name="Text 6"/>
          <p:cNvSpPr/>
          <p:nvPr/>
        </p:nvSpPr>
        <p:spPr>
          <a:xfrm>
            <a:off x="384048" y="2651760"/>
            <a:ext cx="2569464" cy="21031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XGBoost gradient boosting classifies claims for FWA risk. SMOTE balances the minority anomaly class. SHAP explains every prediction feature-by-feature.</a:t>
            </a:r>
            <a:endParaRPr lang="en-US" sz="1050" dirty="0"/>
          </a:p>
        </p:txBody>
      </p:sp>
      <p:sp>
        <p:nvSpPr>
          <p:cNvPr id="10" name="Shape 7"/>
          <p:cNvSpPr/>
          <p:nvPr/>
        </p:nvSpPr>
        <p:spPr>
          <a:xfrm>
            <a:off x="3172968" y="1097280"/>
            <a:ext cx="2788920" cy="3749040"/>
          </a:xfrm>
          <a:prstGeom prst="roundRect">
            <a:avLst>
              <a:gd name="adj" fmla="val 3279"/>
            </a:avLst>
          </a:prstGeom>
          <a:solidFill>
            <a:srgbClr val="F0F7FF"/>
          </a:solidFill>
          <a:ln/>
          <a:effectLst>
            <a:outerShdw sx="100000" sy="100000" kx="0" ky="0" algn="bl" rotWithShape="0" blurRad="76200" dist="25400" dir="2700000">
              <a:srgbClr val="000000">
                <a:alpha val="13000"/>
              </a:srgbClr>
            </a:outerShdw>
          </a:effectLst>
        </p:spPr>
      </p:sp>
      <p:sp>
        <p:nvSpPr>
          <p:cNvPr id="11" name="Shape 8"/>
          <p:cNvSpPr/>
          <p:nvPr/>
        </p:nvSpPr>
        <p:spPr>
          <a:xfrm>
            <a:off x="4197096" y="1234440"/>
            <a:ext cx="713232" cy="713232"/>
          </a:xfrm>
          <a:prstGeom prst="ellipse">
            <a:avLst/>
          </a:prstGeom>
          <a:solidFill>
            <a:srgbClr val="0D9488"/>
          </a:solidFill>
          <a:ln w="1270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4297680" y="1325880"/>
            <a:ext cx="512064" cy="512064"/>
          </a:xfrm>
          <a:prstGeom prst="rect">
            <a:avLst/>
          </a:prstGeom>
        </p:spPr>
      </p:pic>
      <p:sp>
        <p:nvSpPr>
          <p:cNvPr id="13" name="Text 9"/>
          <p:cNvSpPr/>
          <p:nvPr/>
        </p:nvSpPr>
        <p:spPr>
          <a:xfrm>
            <a:off x="3172968" y="2029968"/>
            <a:ext cx="2788920" cy="566928"/>
          </a:xfrm>
          <a:prstGeom prst="rect">
            <a:avLst/>
          </a:prstGeom>
          <a:noFill/>
          <a:ln/>
        </p:spPr>
        <p:txBody>
          <a:bodyPr wrap="square" rtlCol="0" anchor="ctr"/>
          <a:lstStyle/>
          <a:p>
            <a:pPr algn="ctr" indent="0" marL="0">
              <a:buNone/>
            </a:pPr>
            <a:r>
              <a:rPr lang="en-US" sz="1300" b="1" dirty="0">
                <a:solidFill>
                  <a:srgbClr val="0D2137"/>
                </a:solidFill>
                <a:latin typeface="Calibri" pitchFamily="34" charset="0"/>
                <a:ea typeface="Calibri" pitchFamily="34" charset="-122"/>
                <a:cs typeface="Calibri" pitchFamily="34" charset="-120"/>
              </a:rPr>
              <a:t>RAG Policy</a:t>
            </a:r>
            <a:endParaRPr lang="en-US" sz="1300" dirty="0"/>
          </a:p>
          <a:p>
            <a:pPr algn="ctr" indent="0" marL="0">
              <a:buNone/>
            </a:pPr>
            <a:r>
              <a:rPr lang="en-US" sz="1300" b="1" dirty="0">
                <a:solidFill>
                  <a:srgbClr val="0D2137"/>
                </a:solidFill>
                <a:latin typeface="Calibri" pitchFamily="34" charset="0"/>
                <a:ea typeface="Calibri" pitchFamily="34" charset="-122"/>
                <a:cs typeface="Calibri" pitchFamily="34" charset="-120"/>
              </a:rPr>
              <a:t>Retrieval</a:t>
            </a:r>
            <a:endParaRPr lang="en-US" sz="1300" dirty="0"/>
          </a:p>
        </p:txBody>
      </p:sp>
      <p:sp>
        <p:nvSpPr>
          <p:cNvPr id="14" name="Text 10"/>
          <p:cNvSpPr/>
          <p:nvPr/>
        </p:nvSpPr>
        <p:spPr>
          <a:xfrm>
            <a:off x="3282696" y="2651760"/>
            <a:ext cx="2569464" cy="21031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FAISS vector database + Sentence Transformers retrieve the most semantically relevant CMS billing policy for each flagged claim in milliseconds.</a:t>
            </a:r>
            <a:endParaRPr lang="en-US" sz="1050" dirty="0"/>
          </a:p>
        </p:txBody>
      </p:sp>
      <p:sp>
        <p:nvSpPr>
          <p:cNvPr id="15" name="Shape 11"/>
          <p:cNvSpPr/>
          <p:nvPr/>
        </p:nvSpPr>
        <p:spPr>
          <a:xfrm>
            <a:off x="6071616" y="1097280"/>
            <a:ext cx="2788920" cy="3749040"/>
          </a:xfrm>
          <a:prstGeom prst="roundRect">
            <a:avLst>
              <a:gd name="adj" fmla="val 3279"/>
            </a:avLst>
          </a:prstGeom>
          <a:solidFill>
            <a:srgbClr val="F0F7FF"/>
          </a:solidFill>
          <a:ln/>
          <a:effectLst>
            <a:outerShdw sx="100000" sy="100000" kx="0" ky="0" algn="bl" rotWithShape="0" blurRad="76200" dist="25400" dir="2700000">
              <a:srgbClr val="000000">
                <a:alpha val="13000"/>
              </a:srgbClr>
            </a:outerShdw>
          </a:effectLst>
        </p:spPr>
      </p:sp>
      <p:sp>
        <p:nvSpPr>
          <p:cNvPr id="16" name="Shape 12"/>
          <p:cNvSpPr/>
          <p:nvPr/>
        </p:nvSpPr>
        <p:spPr>
          <a:xfrm>
            <a:off x="7095744" y="1234440"/>
            <a:ext cx="713232" cy="713232"/>
          </a:xfrm>
          <a:prstGeom prst="ellipse">
            <a:avLst/>
          </a:prstGeom>
          <a:solidFill>
            <a:srgbClr val="0D9488"/>
          </a:solidFill>
          <a:ln w="12700">
            <a:solidFill>
              <a:srgbClr val="0D9488"/>
            </a:solidFill>
            <a:prstDash val="solid"/>
          </a:ln>
        </p:spPr>
      </p:sp>
      <p:pic>
        <p:nvPicPr>
          <p:cNvPr id="17" name="Image 2" descr="preencoded.png">    </p:cNvPr>
          <p:cNvPicPr>
            <a:picLocks noChangeAspect="1"/>
          </p:cNvPicPr>
          <p:nvPr/>
        </p:nvPicPr>
        <p:blipFill>
          <a:blip r:embed="rId3"/>
          <a:stretch>
            <a:fillRect/>
          </a:stretch>
        </p:blipFill>
        <p:spPr>
          <a:xfrm>
            <a:off x="7196328" y="1325880"/>
            <a:ext cx="512064" cy="512064"/>
          </a:xfrm>
          <a:prstGeom prst="rect">
            <a:avLst/>
          </a:prstGeom>
        </p:spPr>
      </p:pic>
      <p:sp>
        <p:nvSpPr>
          <p:cNvPr id="18" name="Text 13"/>
          <p:cNvSpPr/>
          <p:nvPr/>
        </p:nvSpPr>
        <p:spPr>
          <a:xfrm>
            <a:off x="6071616" y="2029968"/>
            <a:ext cx="2788920" cy="566928"/>
          </a:xfrm>
          <a:prstGeom prst="rect">
            <a:avLst/>
          </a:prstGeom>
          <a:noFill/>
          <a:ln/>
        </p:spPr>
        <p:txBody>
          <a:bodyPr wrap="square" rtlCol="0" anchor="ctr"/>
          <a:lstStyle/>
          <a:p>
            <a:pPr algn="ctr" indent="0" marL="0">
              <a:buNone/>
            </a:pPr>
            <a:r>
              <a:rPr lang="en-US" sz="1300" b="1" dirty="0">
                <a:solidFill>
                  <a:srgbClr val="0D2137"/>
                </a:solidFill>
                <a:latin typeface="Calibri" pitchFamily="34" charset="0"/>
                <a:ea typeface="Calibri" pitchFamily="34" charset="-122"/>
                <a:cs typeface="Calibri" pitchFamily="34" charset="-120"/>
              </a:rPr>
              <a:t>Agentic</a:t>
            </a:r>
            <a:endParaRPr lang="en-US" sz="1300" dirty="0"/>
          </a:p>
          <a:p>
            <a:pPr algn="ctr" indent="0" marL="0">
              <a:buNone/>
            </a:pPr>
            <a:r>
              <a:rPr lang="en-US" sz="1300" b="1" dirty="0">
                <a:solidFill>
                  <a:srgbClr val="0D2137"/>
                </a:solidFill>
                <a:latin typeface="Calibri" pitchFamily="34" charset="0"/>
                <a:ea typeface="Calibri" pitchFamily="34" charset="-122"/>
                <a:cs typeface="Calibri" pitchFamily="34" charset="-120"/>
              </a:rPr>
              <a:t>Orchestration</a:t>
            </a:r>
            <a:endParaRPr lang="en-US" sz="1300" dirty="0"/>
          </a:p>
        </p:txBody>
      </p:sp>
      <p:sp>
        <p:nvSpPr>
          <p:cNvPr id="19" name="Text 14"/>
          <p:cNvSpPr/>
          <p:nvPr/>
        </p:nvSpPr>
        <p:spPr>
          <a:xfrm>
            <a:off x="6181344" y="2651760"/>
            <a:ext cx="2569464" cy="21031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3-agent pipeline: Classifier Agent scores the claim, RAG Agent retrieves policy, Summary Agent writes a structured clinical reviewer brief.</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Industry Trends (2024–2026)</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Sources: Andres et al. 2025, Gartner 2025, Accenture 2026, Everest Group 2025</a:t>
            </a:r>
            <a:endParaRPr lang="en-US" sz="1200" dirty="0"/>
          </a:p>
        </p:txBody>
      </p:sp>
      <p:sp>
        <p:nvSpPr>
          <p:cNvPr id="5" name="Shape 3"/>
          <p:cNvSpPr/>
          <p:nvPr/>
        </p:nvSpPr>
        <p:spPr>
          <a:xfrm>
            <a:off x="274320" y="1051560"/>
            <a:ext cx="2011680" cy="1481328"/>
          </a:xfrm>
          <a:prstGeom prst="roundRect">
            <a:avLst>
              <a:gd name="adj" fmla="val 6173"/>
            </a:avLst>
          </a:prstGeom>
          <a:solidFill>
            <a:srgbClr val="0D2137"/>
          </a:solidFill>
          <a:ln/>
          <a:effectLst>
            <a:outerShdw sx="100000" sy="100000" kx="0" ky="0" algn="bl" rotWithShape="0" blurRad="76200" dist="25400" dir="2700000">
              <a:srgbClr val="000000">
                <a:alpha val="13000"/>
              </a:srgbClr>
            </a:outerShdw>
          </a:effectLst>
        </p:spPr>
      </p:sp>
      <p:sp>
        <p:nvSpPr>
          <p:cNvPr id="6" name="Text 4"/>
          <p:cNvSpPr/>
          <p:nvPr/>
        </p:nvSpPr>
        <p:spPr>
          <a:xfrm>
            <a:off x="274320" y="1115568"/>
            <a:ext cx="2011680" cy="685800"/>
          </a:xfrm>
          <a:prstGeom prst="rect">
            <a:avLst/>
          </a:prstGeom>
          <a:noFill/>
          <a:ln/>
        </p:spPr>
        <p:txBody>
          <a:bodyPr wrap="square" rtlCol="0" anchor="ctr"/>
          <a:lstStyle/>
          <a:p>
            <a:pPr algn="ctr" indent="0" marL="0">
              <a:buNone/>
            </a:pPr>
            <a:r>
              <a:rPr lang="en-US" sz="2600" b="1" dirty="0">
                <a:solidFill>
                  <a:srgbClr val="14B8A6"/>
                </a:solidFill>
                <a:latin typeface="Calibri" pitchFamily="34" charset="0"/>
                <a:ea typeface="Calibri" pitchFamily="34" charset="-122"/>
                <a:cs typeface="Calibri" pitchFamily="34" charset="-120"/>
              </a:rPr>
              <a:t>53K+</a:t>
            </a:r>
            <a:endParaRPr lang="en-US" sz="2600" dirty="0"/>
          </a:p>
        </p:txBody>
      </p:sp>
      <p:sp>
        <p:nvSpPr>
          <p:cNvPr id="7" name="Text 5"/>
          <p:cNvSpPr/>
          <p:nvPr/>
        </p:nvSpPr>
        <p:spPr>
          <a:xfrm>
            <a:off x="274320" y="1801368"/>
            <a:ext cx="2011680" cy="640080"/>
          </a:xfrm>
          <a:prstGeom prst="rect">
            <a:avLst/>
          </a:prstGeom>
          <a:noFill/>
          <a:ln/>
        </p:spPr>
        <p:txBody>
          <a:bodyPr wrap="square" rtlCol="0" anchor="ctr"/>
          <a:lstStyle/>
          <a:p>
            <a:pPr algn="ctr" indent="0" marL="0">
              <a:buNone/>
            </a:pPr>
            <a:r>
              <a:rPr lang="en-US" sz="1000" dirty="0">
                <a:solidFill>
                  <a:srgbClr val="AABFD6"/>
                </a:solidFill>
                <a:latin typeface="Calibri" pitchFamily="34" charset="0"/>
                <a:ea typeface="Calibri" pitchFamily="34" charset="-122"/>
                <a:cs typeface="Calibri" pitchFamily="34" charset="-120"/>
              </a:rPr>
              <a:t>AI/ML clinical</a:t>
            </a:r>
            <a:endParaRPr lang="en-US" sz="1000" dirty="0"/>
          </a:p>
          <a:p>
            <a:pPr algn="ctr" indent="0" marL="0">
              <a:buNone/>
            </a:pPr>
            <a:r>
              <a:rPr lang="en-US" sz="1000" dirty="0">
                <a:solidFill>
                  <a:srgbClr val="AABFD6"/>
                </a:solidFill>
                <a:latin typeface="Calibri" pitchFamily="34" charset="0"/>
                <a:ea typeface="Calibri" pitchFamily="34" charset="-122"/>
                <a:cs typeface="Calibri" pitchFamily="34" charset="-120"/>
              </a:rPr>
              <a:t>publications 2021-25</a:t>
            </a:r>
            <a:endParaRPr lang="en-US" sz="1000" dirty="0"/>
          </a:p>
        </p:txBody>
      </p:sp>
      <p:sp>
        <p:nvSpPr>
          <p:cNvPr id="8" name="Shape 6"/>
          <p:cNvSpPr/>
          <p:nvPr/>
        </p:nvSpPr>
        <p:spPr>
          <a:xfrm>
            <a:off x="2487168" y="1051560"/>
            <a:ext cx="2011680" cy="1481328"/>
          </a:xfrm>
          <a:prstGeom prst="roundRect">
            <a:avLst>
              <a:gd name="adj" fmla="val 6173"/>
            </a:avLst>
          </a:prstGeom>
          <a:solidFill>
            <a:srgbClr val="0D2137"/>
          </a:solidFill>
          <a:ln/>
          <a:effectLst>
            <a:outerShdw sx="100000" sy="100000" kx="0" ky="0" algn="bl" rotWithShape="0" blurRad="76200" dist="25400" dir="2700000">
              <a:srgbClr val="000000">
                <a:alpha val="13000"/>
              </a:srgbClr>
            </a:outerShdw>
          </a:effectLst>
        </p:spPr>
      </p:sp>
      <p:sp>
        <p:nvSpPr>
          <p:cNvPr id="9" name="Text 7"/>
          <p:cNvSpPr/>
          <p:nvPr/>
        </p:nvSpPr>
        <p:spPr>
          <a:xfrm>
            <a:off x="2487168" y="1115568"/>
            <a:ext cx="2011680" cy="685800"/>
          </a:xfrm>
          <a:prstGeom prst="rect">
            <a:avLst/>
          </a:prstGeom>
          <a:noFill/>
          <a:ln/>
        </p:spPr>
        <p:txBody>
          <a:bodyPr wrap="square" rtlCol="0" anchor="ctr"/>
          <a:lstStyle/>
          <a:p>
            <a:pPr algn="ctr" indent="0" marL="0">
              <a:buNone/>
            </a:pPr>
            <a:r>
              <a:rPr lang="en-US" sz="2600" b="1" dirty="0">
                <a:solidFill>
                  <a:srgbClr val="14B8A6"/>
                </a:solidFill>
                <a:latin typeface="Calibri" pitchFamily="34" charset="0"/>
                <a:ea typeface="Calibri" pitchFamily="34" charset="-122"/>
                <a:cs typeface="Calibri" pitchFamily="34" charset="-120"/>
              </a:rPr>
              <a:t>40%</a:t>
            </a:r>
            <a:endParaRPr lang="en-US" sz="2600" dirty="0"/>
          </a:p>
        </p:txBody>
      </p:sp>
      <p:sp>
        <p:nvSpPr>
          <p:cNvPr id="10" name="Text 8"/>
          <p:cNvSpPr/>
          <p:nvPr/>
        </p:nvSpPr>
        <p:spPr>
          <a:xfrm>
            <a:off x="2487168" y="1801368"/>
            <a:ext cx="2011680" cy="640080"/>
          </a:xfrm>
          <a:prstGeom prst="rect">
            <a:avLst/>
          </a:prstGeom>
          <a:noFill/>
          <a:ln/>
        </p:spPr>
        <p:txBody>
          <a:bodyPr wrap="square" rtlCol="0" anchor="ctr"/>
          <a:lstStyle/>
          <a:p>
            <a:pPr algn="ctr" indent="0" marL="0">
              <a:buNone/>
            </a:pPr>
            <a:r>
              <a:rPr lang="en-US" sz="1000" dirty="0">
                <a:solidFill>
                  <a:srgbClr val="AABFD6"/>
                </a:solidFill>
                <a:latin typeface="Calibri" pitchFamily="34" charset="0"/>
                <a:ea typeface="Calibri" pitchFamily="34" charset="-122"/>
                <a:cs typeface="Calibri" pitchFamily="34" charset="-120"/>
              </a:rPr>
              <a:t>Enterprise apps</a:t>
            </a:r>
            <a:endParaRPr lang="en-US" sz="1000" dirty="0"/>
          </a:p>
          <a:p>
            <a:pPr algn="ctr" indent="0" marL="0">
              <a:buNone/>
            </a:pPr>
            <a:r>
              <a:rPr lang="en-US" sz="1000" dirty="0">
                <a:solidFill>
                  <a:srgbClr val="AABFD6"/>
                </a:solidFill>
                <a:latin typeface="Calibri" pitchFamily="34" charset="0"/>
                <a:ea typeface="Calibri" pitchFamily="34" charset="-122"/>
                <a:cs typeface="Calibri" pitchFamily="34" charset="-120"/>
              </a:rPr>
              <a:t>with agents 2026</a:t>
            </a:r>
            <a:endParaRPr lang="en-US" sz="1000" dirty="0"/>
          </a:p>
        </p:txBody>
      </p:sp>
      <p:sp>
        <p:nvSpPr>
          <p:cNvPr id="11" name="Shape 9"/>
          <p:cNvSpPr/>
          <p:nvPr/>
        </p:nvSpPr>
        <p:spPr>
          <a:xfrm>
            <a:off x="4700016" y="1051560"/>
            <a:ext cx="2011680" cy="1481328"/>
          </a:xfrm>
          <a:prstGeom prst="roundRect">
            <a:avLst>
              <a:gd name="adj" fmla="val 6173"/>
            </a:avLst>
          </a:prstGeom>
          <a:solidFill>
            <a:srgbClr val="0D2137"/>
          </a:solidFill>
          <a:ln/>
          <a:effectLst>
            <a:outerShdw sx="100000" sy="100000" kx="0" ky="0" algn="bl" rotWithShape="0" blurRad="76200" dist="25400" dir="2700000">
              <a:srgbClr val="000000">
                <a:alpha val="13000"/>
              </a:srgbClr>
            </a:outerShdw>
          </a:effectLst>
        </p:spPr>
      </p:sp>
      <p:sp>
        <p:nvSpPr>
          <p:cNvPr id="12" name="Text 10"/>
          <p:cNvSpPr/>
          <p:nvPr/>
        </p:nvSpPr>
        <p:spPr>
          <a:xfrm>
            <a:off x="4700016" y="1115568"/>
            <a:ext cx="2011680" cy="685800"/>
          </a:xfrm>
          <a:prstGeom prst="rect">
            <a:avLst/>
          </a:prstGeom>
          <a:noFill/>
          <a:ln/>
        </p:spPr>
        <p:txBody>
          <a:bodyPr wrap="square" rtlCol="0" anchor="ctr"/>
          <a:lstStyle/>
          <a:p>
            <a:pPr algn="ctr" indent="0" marL="0">
              <a:buNone/>
            </a:pPr>
            <a:r>
              <a:rPr lang="en-US" sz="2600" b="1" dirty="0">
                <a:solidFill>
                  <a:srgbClr val="14B8A6"/>
                </a:solidFill>
                <a:latin typeface="Calibri" pitchFamily="34" charset="0"/>
                <a:ea typeface="Calibri" pitchFamily="34" charset="-122"/>
                <a:cs typeface="Calibri" pitchFamily="34" charset="-120"/>
              </a:rPr>
              <a:t>30-40%</a:t>
            </a:r>
            <a:endParaRPr lang="en-US" sz="2600" dirty="0"/>
          </a:p>
        </p:txBody>
      </p:sp>
      <p:sp>
        <p:nvSpPr>
          <p:cNvPr id="13" name="Text 11"/>
          <p:cNvSpPr/>
          <p:nvPr/>
        </p:nvSpPr>
        <p:spPr>
          <a:xfrm>
            <a:off x="4700016" y="1801368"/>
            <a:ext cx="2011680" cy="640080"/>
          </a:xfrm>
          <a:prstGeom prst="rect">
            <a:avLst/>
          </a:prstGeom>
          <a:noFill/>
          <a:ln/>
        </p:spPr>
        <p:txBody>
          <a:bodyPr wrap="square" rtlCol="0" anchor="ctr"/>
          <a:lstStyle/>
          <a:p>
            <a:pPr algn="ctr" indent="0" marL="0">
              <a:buNone/>
            </a:pPr>
            <a:r>
              <a:rPr lang="en-US" sz="1000" dirty="0">
                <a:solidFill>
                  <a:srgbClr val="AABFD6"/>
                </a:solidFill>
                <a:latin typeface="Calibri" pitchFamily="34" charset="0"/>
                <a:ea typeface="Calibri" pitchFamily="34" charset="-122"/>
                <a:cs typeface="Calibri" pitchFamily="34" charset="-120"/>
              </a:rPr>
              <a:t>FWA detection</a:t>
            </a:r>
            <a:endParaRPr lang="en-US" sz="1000" dirty="0"/>
          </a:p>
          <a:p>
            <a:pPr algn="ctr" indent="0" marL="0">
              <a:buNone/>
            </a:pPr>
            <a:r>
              <a:rPr lang="en-US" sz="1000" dirty="0">
                <a:solidFill>
                  <a:srgbClr val="AABFD6"/>
                </a:solidFill>
                <a:latin typeface="Calibri" pitchFamily="34" charset="0"/>
                <a:ea typeface="Calibri" pitchFamily="34" charset="-122"/>
                <a:cs typeface="Calibri" pitchFamily="34" charset="-120"/>
              </a:rPr>
              <a:t>lift vs rule-based</a:t>
            </a:r>
            <a:endParaRPr lang="en-US" sz="1000" dirty="0"/>
          </a:p>
        </p:txBody>
      </p:sp>
      <p:sp>
        <p:nvSpPr>
          <p:cNvPr id="14" name="Shape 12"/>
          <p:cNvSpPr/>
          <p:nvPr/>
        </p:nvSpPr>
        <p:spPr>
          <a:xfrm>
            <a:off x="6912864" y="1051560"/>
            <a:ext cx="2011680" cy="1481328"/>
          </a:xfrm>
          <a:prstGeom prst="roundRect">
            <a:avLst>
              <a:gd name="adj" fmla="val 6173"/>
            </a:avLst>
          </a:prstGeom>
          <a:solidFill>
            <a:srgbClr val="0D2137"/>
          </a:solidFill>
          <a:ln/>
          <a:effectLst>
            <a:outerShdw sx="100000" sy="100000" kx="0" ky="0" algn="bl" rotWithShape="0" blurRad="76200" dist="25400" dir="2700000">
              <a:srgbClr val="000000">
                <a:alpha val="13000"/>
              </a:srgbClr>
            </a:outerShdw>
          </a:effectLst>
        </p:spPr>
      </p:sp>
      <p:sp>
        <p:nvSpPr>
          <p:cNvPr id="15" name="Text 13"/>
          <p:cNvSpPr/>
          <p:nvPr/>
        </p:nvSpPr>
        <p:spPr>
          <a:xfrm>
            <a:off x="6912864" y="1115568"/>
            <a:ext cx="2011680" cy="685800"/>
          </a:xfrm>
          <a:prstGeom prst="rect">
            <a:avLst/>
          </a:prstGeom>
          <a:noFill/>
          <a:ln/>
        </p:spPr>
        <p:txBody>
          <a:bodyPr wrap="square" rtlCol="0" anchor="ctr"/>
          <a:lstStyle/>
          <a:p>
            <a:pPr algn="ctr" indent="0" marL="0">
              <a:buNone/>
            </a:pPr>
            <a:r>
              <a:rPr lang="en-US" sz="2600" b="1" dirty="0">
                <a:solidFill>
                  <a:srgbClr val="14B8A6"/>
                </a:solidFill>
                <a:latin typeface="Calibri" pitchFamily="34" charset="0"/>
                <a:ea typeface="Calibri" pitchFamily="34" charset="-122"/>
                <a:cs typeface="Calibri" pitchFamily="34" charset="-120"/>
              </a:rPr>
              <a:t>950+</a:t>
            </a:r>
            <a:endParaRPr lang="en-US" sz="2600" dirty="0"/>
          </a:p>
        </p:txBody>
      </p:sp>
      <p:sp>
        <p:nvSpPr>
          <p:cNvPr id="16" name="Text 14"/>
          <p:cNvSpPr/>
          <p:nvPr/>
        </p:nvSpPr>
        <p:spPr>
          <a:xfrm>
            <a:off x="6912864" y="1801368"/>
            <a:ext cx="2011680" cy="640080"/>
          </a:xfrm>
          <a:prstGeom prst="rect">
            <a:avLst/>
          </a:prstGeom>
          <a:noFill/>
          <a:ln/>
        </p:spPr>
        <p:txBody>
          <a:bodyPr wrap="square" rtlCol="0" anchor="ctr"/>
          <a:lstStyle/>
          <a:p>
            <a:pPr algn="ctr" indent="0" marL="0">
              <a:buNone/>
            </a:pPr>
            <a:r>
              <a:rPr lang="en-US" sz="1000" dirty="0">
                <a:solidFill>
                  <a:srgbClr val="AABFD6"/>
                </a:solidFill>
                <a:latin typeface="Calibri" pitchFamily="34" charset="0"/>
                <a:ea typeface="Calibri" pitchFamily="34" charset="-122"/>
                <a:cs typeface="Calibri" pitchFamily="34" charset="-120"/>
              </a:rPr>
              <a:t>FDA-authorized</a:t>
            </a:r>
            <a:endParaRPr lang="en-US" sz="1000" dirty="0"/>
          </a:p>
          <a:p>
            <a:pPr algn="ctr" indent="0" marL="0">
              <a:buNone/>
            </a:pPr>
            <a:r>
              <a:rPr lang="en-US" sz="1000" dirty="0">
                <a:solidFill>
                  <a:srgbClr val="AABFD6"/>
                </a:solidFill>
                <a:latin typeface="Calibri" pitchFamily="34" charset="0"/>
                <a:ea typeface="Calibri" pitchFamily="34" charset="-122"/>
                <a:cs typeface="Calibri" pitchFamily="34" charset="-120"/>
              </a:rPr>
              <a:t>AI medical devices</a:t>
            </a:r>
            <a:endParaRPr lang="en-US" sz="1000" dirty="0"/>
          </a:p>
        </p:txBody>
      </p:sp>
      <p:sp>
        <p:nvSpPr>
          <p:cNvPr id="17" name="Shape 15"/>
          <p:cNvSpPr/>
          <p:nvPr/>
        </p:nvSpPr>
        <p:spPr>
          <a:xfrm>
            <a:off x="320040" y="2843784"/>
            <a:ext cx="420624" cy="420624"/>
          </a:xfrm>
          <a:prstGeom prst="ellipse">
            <a:avLst/>
          </a:prstGeom>
          <a:solidFill>
            <a:srgbClr val="0D9488"/>
          </a:solidFill>
          <a:ln w="12700">
            <a:solidFill>
              <a:srgbClr val="0D9488"/>
            </a:solidFill>
            <a:prstDash val="solid"/>
          </a:ln>
        </p:spPr>
      </p:sp>
      <p:pic>
        <p:nvPicPr>
          <p:cNvPr id="18" name="Image 0" descr="preencoded.png">    </p:cNvPr>
          <p:cNvPicPr>
            <a:picLocks noChangeAspect="1"/>
          </p:cNvPicPr>
          <p:nvPr/>
        </p:nvPicPr>
        <p:blipFill>
          <a:blip r:embed="rId1"/>
          <a:stretch>
            <a:fillRect/>
          </a:stretch>
        </p:blipFill>
        <p:spPr>
          <a:xfrm>
            <a:off x="411480" y="2880360"/>
            <a:ext cx="237744" cy="237744"/>
          </a:xfrm>
          <a:prstGeom prst="rect">
            <a:avLst/>
          </a:prstGeom>
        </p:spPr>
      </p:pic>
      <p:sp>
        <p:nvSpPr>
          <p:cNvPr id="19" name="Text 16"/>
          <p:cNvSpPr/>
          <p:nvPr/>
        </p:nvSpPr>
        <p:spPr>
          <a:xfrm>
            <a:off x="868680" y="2807208"/>
            <a:ext cx="2377440" cy="256032"/>
          </a:xfrm>
          <a:prstGeom prst="rect">
            <a:avLst/>
          </a:prstGeom>
          <a:noFill/>
          <a:ln/>
        </p:spPr>
        <p:txBody>
          <a:bodyPr wrap="square" rtlCol="0" anchor="ctr"/>
          <a:lstStyle/>
          <a:p>
            <a:pPr indent="0" marL="0">
              <a:buNone/>
            </a:pPr>
            <a:r>
              <a:rPr lang="en-US" sz="1150" b="1" dirty="0">
                <a:solidFill>
                  <a:srgbClr val="0D2137"/>
                </a:solidFill>
                <a:latin typeface="Calibri" pitchFamily="34" charset="0"/>
                <a:ea typeface="Calibri" pitchFamily="34" charset="-122"/>
                <a:cs typeface="Calibri" pitchFamily="34" charset="-120"/>
              </a:rPr>
              <a:t>Agentic AI for Payers</a:t>
            </a:r>
            <a:endParaRPr lang="en-US" sz="1150" dirty="0"/>
          </a:p>
        </p:txBody>
      </p:sp>
      <p:sp>
        <p:nvSpPr>
          <p:cNvPr id="20" name="Text 17"/>
          <p:cNvSpPr/>
          <p:nvPr/>
        </p:nvSpPr>
        <p:spPr>
          <a:xfrm>
            <a:off x="868680" y="3054096"/>
            <a:ext cx="7863840" cy="384048"/>
          </a:xfrm>
          <a:prstGeom prst="rect">
            <a:avLst/>
          </a:prstGeom>
          <a:noFill/>
          <a:ln/>
        </p:spPr>
        <p:txBody>
          <a:bodyPr wrap="square" rtlCol="0" anchor="ctr"/>
          <a:lstStyle/>
          <a:p>
            <a:pPr indent="0" marL="0">
              <a:buNone/>
            </a:pPr>
            <a:r>
              <a:rPr lang="en-US" sz="980" dirty="0">
                <a:solidFill>
                  <a:srgbClr val="64748B"/>
                </a:solidFill>
                <a:latin typeface="Calibri" pitchFamily="34" charset="0"/>
                <a:ea typeface="Calibri" pitchFamily="34" charset="-122"/>
                <a:cs typeface="Calibri" pitchFamily="34" charset="-120"/>
              </a:rPr>
              <a:t>Super Agents automate claims intake and adjudication. Utility Agents extract and validate document data. (Accenture, 2026)</a:t>
            </a:r>
            <a:endParaRPr lang="en-US" sz="980" dirty="0"/>
          </a:p>
        </p:txBody>
      </p:sp>
      <p:sp>
        <p:nvSpPr>
          <p:cNvPr id="21" name="Shape 18"/>
          <p:cNvSpPr/>
          <p:nvPr/>
        </p:nvSpPr>
        <p:spPr>
          <a:xfrm>
            <a:off x="320040" y="3557016"/>
            <a:ext cx="420624" cy="420624"/>
          </a:xfrm>
          <a:prstGeom prst="ellipse">
            <a:avLst/>
          </a:prstGeom>
          <a:solidFill>
            <a:srgbClr val="0D9488"/>
          </a:solidFill>
          <a:ln w="12700">
            <a:solidFill>
              <a:srgbClr val="0D9488"/>
            </a:solidFill>
            <a:prstDash val="solid"/>
          </a:ln>
        </p:spPr>
      </p:sp>
      <p:pic>
        <p:nvPicPr>
          <p:cNvPr id="22" name="Image 1" descr="preencoded.png">    </p:cNvPr>
          <p:cNvPicPr>
            <a:picLocks noChangeAspect="1"/>
          </p:cNvPicPr>
          <p:nvPr/>
        </p:nvPicPr>
        <p:blipFill>
          <a:blip r:embed="rId2"/>
          <a:stretch>
            <a:fillRect/>
          </a:stretch>
        </p:blipFill>
        <p:spPr>
          <a:xfrm>
            <a:off x="411480" y="3593592"/>
            <a:ext cx="237744" cy="237744"/>
          </a:xfrm>
          <a:prstGeom prst="rect">
            <a:avLst/>
          </a:prstGeom>
        </p:spPr>
      </p:pic>
      <p:sp>
        <p:nvSpPr>
          <p:cNvPr id="23" name="Text 19"/>
          <p:cNvSpPr/>
          <p:nvPr/>
        </p:nvSpPr>
        <p:spPr>
          <a:xfrm>
            <a:off x="868680" y="3520440"/>
            <a:ext cx="2377440" cy="256032"/>
          </a:xfrm>
          <a:prstGeom prst="rect">
            <a:avLst/>
          </a:prstGeom>
          <a:noFill/>
          <a:ln/>
        </p:spPr>
        <p:txBody>
          <a:bodyPr wrap="square" rtlCol="0" anchor="ctr"/>
          <a:lstStyle/>
          <a:p>
            <a:pPr indent="0" marL="0">
              <a:buNone/>
            </a:pPr>
            <a:r>
              <a:rPr lang="en-US" sz="1150" b="1" dirty="0">
                <a:solidFill>
                  <a:srgbClr val="0D2137"/>
                </a:solidFill>
                <a:latin typeface="Calibri" pitchFamily="34" charset="0"/>
                <a:ea typeface="Calibri" pitchFamily="34" charset="-122"/>
                <a:cs typeface="Calibri" pitchFamily="34" charset="-120"/>
              </a:rPr>
              <a:t>RAG + Semantic Search</a:t>
            </a:r>
            <a:endParaRPr lang="en-US" sz="1150" dirty="0"/>
          </a:p>
        </p:txBody>
      </p:sp>
      <p:sp>
        <p:nvSpPr>
          <p:cNvPr id="24" name="Text 20"/>
          <p:cNvSpPr/>
          <p:nvPr/>
        </p:nvSpPr>
        <p:spPr>
          <a:xfrm>
            <a:off x="868680" y="3767328"/>
            <a:ext cx="7863840" cy="384048"/>
          </a:xfrm>
          <a:prstGeom prst="rect">
            <a:avLst/>
          </a:prstGeom>
          <a:noFill/>
          <a:ln/>
        </p:spPr>
        <p:txBody>
          <a:bodyPr wrap="square" rtlCol="0" anchor="ctr"/>
          <a:lstStyle/>
          <a:p>
            <a:pPr indent="0" marL="0">
              <a:buNone/>
            </a:pPr>
            <a:r>
              <a:rPr lang="en-US" sz="980" dirty="0">
                <a:solidFill>
                  <a:srgbClr val="64748B"/>
                </a:solidFill>
                <a:latin typeface="Calibri" pitchFamily="34" charset="0"/>
                <a:ea typeface="Calibri" pitchFamily="34" charset="-122"/>
                <a:cs typeface="Calibri" pitchFamily="34" charset="-120"/>
              </a:rPr>
              <a:t>FAISS + Sentence Transformers retrieve CMS policy in ms — grounding every AI output in verifiable authoritative sources.</a:t>
            </a:r>
            <a:endParaRPr lang="en-US" sz="980" dirty="0"/>
          </a:p>
        </p:txBody>
      </p:sp>
      <p:sp>
        <p:nvSpPr>
          <p:cNvPr id="25" name="Shape 21"/>
          <p:cNvSpPr/>
          <p:nvPr/>
        </p:nvSpPr>
        <p:spPr>
          <a:xfrm>
            <a:off x="320040" y="4270248"/>
            <a:ext cx="420624" cy="420624"/>
          </a:xfrm>
          <a:prstGeom prst="ellipse">
            <a:avLst/>
          </a:prstGeom>
          <a:solidFill>
            <a:srgbClr val="0D9488"/>
          </a:solidFill>
          <a:ln w="12700">
            <a:solidFill>
              <a:srgbClr val="0D9488"/>
            </a:solidFill>
            <a:prstDash val="solid"/>
          </a:ln>
        </p:spPr>
      </p:sp>
      <p:pic>
        <p:nvPicPr>
          <p:cNvPr id="26" name="Image 2" descr="preencoded.png">    </p:cNvPr>
          <p:cNvPicPr>
            <a:picLocks noChangeAspect="1"/>
          </p:cNvPicPr>
          <p:nvPr/>
        </p:nvPicPr>
        <p:blipFill>
          <a:blip r:embed="rId3"/>
          <a:stretch>
            <a:fillRect/>
          </a:stretch>
        </p:blipFill>
        <p:spPr>
          <a:xfrm>
            <a:off x="411480" y="4306824"/>
            <a:ext cx="237744" cy="237744"/>
          </a:xfrm>
          <a:prstGeom prst="rect">
            <a:avLst/>
          </a:prstGeom>
        </p:spPr>
      </p:pic>
      <p:sp>
        <p:nvSpPr>
          <p:cNvPr id="27" name="Text 22"/>
          <p:cNvSpPr/>
          <p:nvPr/>
        </p:nvSpPr>
        <p:spPr>
          <a:xfrm>
            <a:off x="868680" y="4233672"/>
            <a:ext cx="2377440" cy="256032"/>
          </a:xfrm>
          <a:prstGeom prst="rect">
            <a:avLst/>
          </a:prstGeom>
          <a:noFill/>
          <a:ln/>
        </p:spPr>
        <p:txBody>
          <a:bodyPr wrap="square" rtlCol="0" anchor="ctr"/>
          <a:lstStyle/>
          <a:p>
            <a:pPr indent="0" marL="0">
              <a:buNone/>
            </a:pPr>
            <a:r>
              <a:rPr lang="en-US" sz="1150" b="1" dirty="0">
                <a:solidFill>
                  <a:srgbClr val="0D2137"/>
                </a:solidFill>
                <a:latin typeface="Calibri" pitchFamily="34" charset="0"/>
                <a:ea typeface="Calibri" pitchFamily="34" charset="-122"/>
                <a:cs typeface="Calibri" pitchFamily="34" charset="-120"/>
              </a:rPr>
              <a:t>Cotiviti PEAK Matrix Leader</a:t>
            </a:r>
            <a:endParaRPr lang="en-US" sz="1150" dirty="0"/>
          </a:p>
        </p:txBody>
      </p:sp>
      <p:sp>
        <p:nvSpPr>
          <p:cNvPr id="28" name="Text 23"/>
          <p:cNvSpPr/>
          <p:nvPr/>
        </p:nvSpPr>
        <p:spPr>
          <a:xfrm>
            <a:off x="868680" y="4480560"/>
            <a:ext cx="7863840" cy="384048"/>
          </a:xfrm>
          <a:prstGeom prst="rect">
            <a:avLst/>
          </a:prstGeom>
          <a:noFill/>
          <a:ln/>
        </p:spPr>
        <p:txBody>
          <a:bodyPr wrap="square" rtlCol="0" anchor="ctr"/>
          <a:lstStyle/>
          <a:p>
            <a:pPr indent="0" marL="0">
              <a:buNone/>
            </a:pPr>
            <a:r>
              <a:rPr lang="en-US" sz="980" dirty="0">
                <a:solidFill>
                  <a:srgbClr val="64748B"/>
                </a:solidFill>
                <a:latin typeface="Calibri" pitchFamily="34" charset="0"/>
                <a:ea typeface="Calibri" pitchFamily="34" charset="-122"/>
                <a:cs typeface="Calibri" pitchFamily="34" charset="-120"/>
              </a:rPr>
              <a:t>Named highest-designated Leader in Payment Integrity 2025. AI Center of Excellence formalized.</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Opportunities &amp; Threats</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Balanced analysis for strategic investment decisions</a:t>
            </a:r>
            <a:endParaRPr lang="en-US" sz="1200" dirty="0"/>
          </a:p>
        </p:txBody>
      </p:sp>
      <p:sp>
        <p:nvSpPr>
          <p:cNvPr id="5" name="Shape 3"/>
          <p:cNvSpPr/>
          <p:nvPr/>
        </p:nvSpPr>
        <p:spPr>
          <a:xfrm>
            <a:off x="256032" y="1078992"/>
            <a:ext cx="4206240" cy="3749040"/>
          </a:xfrm>
          <a:prstGeom prst="roundRect">
            <a:avLst>
              <a:gd name="adj" fmla="val 2439"/>
            </a:avLst>
          </a:prstGeom>
          <a:solidFill>
            <a:srgbClr val="F0FDF4"/>
          </a:solidFill>
          <a:ln/>
          <a:effectLst>
            <a:outerShdw sx="100000" sy="100000" kx="0" ky="0" algn="bl" rotWithShape="0" blurRad="76200" dist="25400" dir="2700000">
              <a:srgbClr val="000000">
                <a:alpha val="13000"/>
              </a:srgbClr>
            </a:outerShdw>
          </a:effectLst>
        </p:spPr>
      </p:sp>
      <p:pic>
        <p:nvPicPr>
          <p:cNvPr id="6" name="Image 0" descr="preencoded.png">    </p:cNvPr>
          <p:cNvPicPr>
            <a:picLocks noChangeAspect="1"/>
          </p:cNvPicPr>
          <p:nvPr/>
        </p:nvPicPr>
        <p:blipFill>
          <a:blip r:embed="rId1"/>
          <a:stretch>
            <a:fillRect/>
          </a:stretch>
        </p:blipFill>
        <p:spPr>
          <a:xfrm>
            <a:off x="384048" y="1170432"/>
            <a:ext cx="292608" cy="292608"/>
          </a:xfrm>
          <a:prstGeom prst="rect">
            <a:avLst/>
          </a:prstGeom>
        </p:spPr>
      </p:pic>
      <p:sp>
        <p:nvSpPr>
          <p:cNvPr id="7" name="Text 4"/>
          <p:cNvSpPr/>
          <p:nvPr/>
        </p:nvSpPr>
        <p:spPr>
          <a:xfrm>
            <a:off x="749808" y="1152144"/>
            <a:ext cx="3474720" cy="329184"/>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Opportunities</a:t>
            </a:r>
            <a:endParaRPr lang="en-US" sz="1400" dirty="0"/>
          </a:p>
        </p:txBody>
      </p:sp>
      <p:sp>
        <p:nvSpPr>
          <p:cNvPr id="8" name="Text 5"/>
          <p:cNvSpPr/>
          <p:nvPr/>
        </p:nvSpPr>
        <p:spPr>
          <a:xfrm>
            <a:off x="384048" y="1572768"/>
            <a:ext cx="3913632" cy="676656"/>
          </a:xfrm>
          <a:prstGeom prst="rect">
            <a:avLst/>
          </a:prstGeom>
          <a:noFill/>
          <a:ln/>
        </p:spPr>
        <p:txBody>
          <a:bodyPr wrap="square" rtlCol="0" anchor="ctr"/>
          <a:lstStyle/>
          <a:p>
            <a:pPr indent="0" marL="0">
              <a:buNone/>
            </a:pPr>
            <a:r>
              <a:rPr lang="en-US" sz="1050" b="1" dirty="0">
                <a:solidFill>
                  <a:srgbClr val="16A34A"/>
                </a:solidFill>
                <a:latin typeface="Calibri" pitchFamily="34" charset="0"/>
                <a:ea typeface="Calibri" pitchFamily="34" charset="-122"/>
                <a:cs typeface="Calibri" pitchFamily="34" charset="-120"/>
              </a:rPr>
              <a:t>Pre-pay FWA detection: </a:t>
            </a:r>
            <a:pPr indent="0" marL="0">
              <a:buNone/>
            </a:pPr>
            <a:r>
              <a:rPr lang="en-US" sz="1050" dirty="0">
                <a:solidFill>
                  <a:srgbClr val="1E3A2F"/>
                </a:solidFill>
                <a:latin typeface="Calibri" pitchFamily="34" charset="0"/>
                <a:ea typeface="Calibri" pitchFamily="34" charset="-122"/>
                <a:cs typeface="Calibri" pitchFamily="34" charset="-120"/>
              </a:rPr>
              <a:t>XGBoost reviews 100% of claims before adjudication — catches fraud before payment leaves the payer</a:t>
            </a:r>
            <a:endParaRPr lang="en-US" sz="1050" dirty="0"/>
          </a:p>
        </p:txBody>
      </p:sp>
      <p:sp>
        <p:nvSpPr>
          <p:cNvPr id="9" name="Text 6"/>
          <p:cNvSpPr/>
          <p:nvPr/>
        </p:nvSpPr>
        <p:spPr>
          <a:xfrm>
            <a:off x="384048" y="2368296"/>
            <a:ext cx="3913632" cy="676656"/>
          </a:xfrm>
          <a:prstGeom prst="rect">
            <a:avLst/>
          </a:prstGeom>
          <a:noFill/>
          <a:ln/>
        </p:spPr>
        <p:txBody>
          <a:bodyPr wrap="square" rtlCol="0" anchor="ctr"/>
          <a:lstStyle/>
          <a:p>
            <a:pPr indent="0" marL="0">
              <a:buNone/>
            </a:pPr>
            <a:r>
              <a:rPr lang="en-US" sz="1050" b="1" dirty="0">
                <a:solidFill>
                  <a:srgbClr val="16A34A"/>
                </a:solidFill>
                <a:latin typeface="Calibri" pitchFamily="34" charset="0"/>
                <a:ea typeface="Calibri" pitchFamily="34" charset="-122"/>
                <a:cs typeface="Calibri" pitchFamily="34" charset="-120"/>
              </a:rPr>
              <a:t>RAG policy grounding: </a:t>
            </a:r>
            <a:pPr indent="0" marL="0">
              <a:buNone/>
            </a:pPr>
            <a:r>
              <a:rPr lang="en-US" sz="1050" dirty="0">
                <a:solidFill>
                  <a:srgbClr val="1E3A2F"/>
                </a:solidFill>
                <a:latin typeface="Calibri" pitchFamily="34" charset="0"/>
                <a:ea typeface="Calibri" pitchFamily="34" charset="-122"/>
                <a:cs typeface="Calibri" pitchFamily="34" charset="-120"/>
              </a:rPr>
              <a:t>Every flag paired with retrieved CMS policy — verifiable rationale not opaque ML output</a:t>
            </a:r>
            <a:endParaRPr lang="en-US" sz="1050" dirty="0"/>
          </a:p>
        </p:txBody>
      </p:sp>
      <p:sp>
        <p:nvSpPr>
          <p:cNvPr id="10" name="Text 7"/>
          <p:cNvSpPr/>
          <p:nvPr/>
        </p:nvSpPr>
        <p:spPr>
          <a:xfrm>
            <a:off x="384048" y="3163824"/>
            <a:ext cx="3913632" cy="676656"/>
          </a:xfrm>
          <a:prstGeom prst="rect">
            <a:avLst/>
          </a:prstGeom>
          <a:noFill/>
          <a:ln/>
        </p:spPr>
        <p:txBody>
          <a:bodyPr wrap="square" rtlCol="0" anchor="ctr"/>
          <a:lstStyle/>
          <a:p>
            <a:pPr indent="0" marL="0">
              <a:buNone/>
            </a:pPr>
            <a:r>
              <a:rPr lang="en-US" sz="1050" b="1" dirty="0">
                <a:solidFill>
                  <a:srgbClr val="16A34A"/>
                </a:solidFill>
                <a:latin typeface="Calibri" pitchFamily="34" charset="0"/>
                <a:ea typeface="Calibri" pitchFamily="34" charset="-122"/>
                <a:cs typeface="Calibri" pitchFamily="34" charset="-120"/>
              </a:rPr>
              <a:t>SHAP explainability: </a:t>
            </a:r>
            <a:pPr indent="0" marL="0">
              <a:buNone/>
            </a:pPr>
            <a:r>
              <a:rPr lang="en-US" sz="1050" dirty="0">
                <a:solidFill>
                  <a:srgbClr val="1E3A2F"/>
                </a:solidFill>
                <a:latin typeface="Calibri" pitchFamily="34" charset="0"/>
                <a:ea typeface="Calibri" pitchFamily="34" charset="-122"/>
                <a:cs typeface="Calibri" pitchFamily="34" charset="-120"/>
              </a:rPr>
              <a:t>Every prediction auditable — satisfies regulatory requirements for human review</a:t>
            </a:r>
            <a:endParaRPr lang="en-US" sz="1050" dirty="0"/>
          </a:p>
        </p:txBody>
      </p:sp>
      <p:sp>
        <p:nvSpPr>
          <p:cNvPr id="11" name="Text 8"/>
          <p:cNvSpPr/>
          <p:nvPr/>
        </p:nvSpPr>
        <p:spPr>
          <a:xfrm>
            <a:off x="384048" y="3959352"/>
            <a:ext cx="3913632" cy="676656"/>
          </a:xfrm>
          <a:prstGeom prst="rect">
            <a:avLst/>
          </a:prstGeom>
          <a:noFill/>
          <a:ln/>
        </p:spPr>
        <p:txBody>
          <a:bodyPr wrap="square" rtlCol="0" anchor="ctr"/>
          <a:lstStyle/>
          <a:p>
            <a:pPr indent="0" marL="0">
              <a:buNone/>
            </a:pPr>
            <a:r>
              <a:rPr lang="en-US" sz="1050" b="1" dirty="0">
                <a:solidFill>
                  <a:srgbClr val="16A34A"/>
                </a:solidFill>
                <a:latin typeface="Calibri" pitchFamily="34" charset="0"/>
                <a:ea typeface="Calibri" pitchFamily="34" charset="-122"/>
                <a:cs typeface="Calibri" pitchFamily="34" charset="-120"/>
              </a:rPr>
              <a:t>Modular SaaS API: </a:t>
            </a:r>
            <a:pPr indent="0" marL="0">
              <a:buNone/>
            </a:pPr>
            <a:r>
              <a:rPr lang="en-US" sz="1050" dirty="0">
                <a:solidFill>
                  <a:srgbClr val="1E3A2F"/>
                </a:solidFill>
                <a:latin typeface="Calibri" pitchFamily="34" charset="0"/>
                <a:ea typeface="Calibri" pitchFamily="34" charset="-122"/>
                <a:cs typeface="Calibri" pitchFamily="34" charset="-120"/>
              </a:rPr>
              <a:t>Embed directly into existing payer adjudication platforms — no full tech stack overhaul</a:t>
            </a:r>
            <a:endParaRPr lang="en-US" sz="1050" dirty="0"/>
          </a:p>
        </p:txBody>
      </p:sp>
      <p:sp>
        <p:nvSpPr>
          <p:cNvPr id="12" name="Shape 9"/>
          <p:cNvSpPr/>
          <p:nvPr/>
        </p:nvSpPr>
        <p:spPr>
          <a:xfrm>
            <a:off x="4681728" y="1078992"/>
            <a:ext cx="4206240" cy="3749040"/>
          </a:xfrm>
          <a:prstGeom prst="roundRect">
            <a:avLst>
              <a:gd name="adj" fmla="val 2439"/>
            </a:avLst>
          </a:prstGeom>
          <a:solidFill>
            <a:srgbClr val="FFF7ED"/>
          </a:solidFill>
          <a:ln/>
          <a:effectLst>
            <a:outerShdw sx="100000" sy="100000" kx="0" ky="0" algn="bl" rotWithShape="0" blurRad="76200" dist="25400" dir="2700000">
              <a:srgbClr val="000000">
                <a:alpha val="13000"/>
              </a:srgbClr>
            </a:outerShdw>
          </a:effectLst>
        </p:spPr>
      </p:sp>
      <p:pic>
        <p:nvPicPr>
          <p:cNvPr id="13" name="Image 1" descr="preencoded.png">    </p:cNvPr>
          <p:cNvPicPr>
            <a:picLocks noChangeAspect="1"/>
          </p:cNvPicPr>
          <p:nvPr/>
        </p:nvPicPr>
        <p:blipFill>
          <a:blip r:embed="rId2"/>
          <a:stretch>
            <a:fillRect/>
          </a:stretch>
        </p:blipFill>
        <p:spPr>
          <a:xfrm>
            <a:off x="4809744" y="1170432"/>
            <a:ext cx="292608" cy="292608"/>
          </a:xfrm>
          <a:prstGeom prst="rect">
            <a:avLst/>
          </a:prstGeom>
        </p:spPr>
      </p:pic>
      <p:sp>
        <p:nvSpPr>
          <p:cNvPr id="14" name="Text 10"/>
          <p:cNvSpPr/>
          <p:nvPr/>
        </p:nvSpPr>
        <p:spPr>
          <a:xfrm>
            <a:off x="5166360" y="1152144"/>
            <a:ext cx="3474720" cy="329184"/>
          </a:xfrm>
          <a:prstGeom prst="rect">
            <a:avLst/>
          </a:prstGeom>
          <a:noFill/>
          <a:ln/>
        </p:spPr>
        <p:txBody>
          <a:bodyPr wrap="square"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Threats</a:t>
            </a:r>
            <a:endParaRPr lang="en-US" sz="1400" dirty="0"/>
          </a:p>
        </p:txBody>
      </p:sp>
      <p:sp>
        <p:nvSpPr>
          <p:cNvPr id="15" name="Text 11"/>
          <p:cNvSpPr/>
          <p:nvPr/>
        </p:nvSpPr>
        <p:spPr>
          <a:xfrm>
            <a:off x="4809744" y="1572768"/>
            <a:ext cx="3913632" cy="676656"/>
          </a:xfrm>
          <a:prstGeom prst="rect">
            <a:avLst/>
          </a:prstGeom>
          <a:noFill/>
          <a:ln/>
        </p:spPr>
        <p:txBody>
          <a:bodyPr wrap="square"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FDA/CMS oversight: </a:t>
            </a:r>
            <a:pPr indent="0" marL="0">
              <a:buNone/>
            </a:pPr>
            <a:r>
              <a:rPr lang="en-US" sz="1050" dirty="0">
                <a:solidFill>
                  <a:srgbClr val="3B1A1A"/>
                </a:solidFill>
                <a:latin typeface="Calibri" pitchFamily="34" charset="0"/>
                <a:ea typeface="Calibri" pitchFamily="34" charset="-122"/>
                <a:cs typeface="Calibri" pitchFamily="34" charset="-120"/>
              </a:rPr>
              <a:t>Autonomous clinical AI creates compliance exposure — human-in-the-loop is non-negotiable</a:t>
            </a:r>
            <a:endParaRPr lang="en-US" sz="1050" dirty="0"/>
          </a:p>
        </p:txBody>
      </p:sp>
      <p:sp>
        <p:nvSpPr>
          <p:cNvPr id="16" name="Text 12"/>
          <p:cNvSpPr/>
          <p:nvPr/>
        </p:nvSpPr>
        <p:spPr>
          <a:xfrm>
            <a:off x="4809744" y="2368296"/>
            <a:ext cx="3913632" cy="676656"/>
          </a:xfrm>
          <a:prstGeom prst="rect">
            <a:avLst/>
          </a:prstGeom>
          <a:noFill/>
          <a:ln/>
        </p:spPr>
        <p:txBody>
          <a:bodyPr wrap="square"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HIPAA constraints: </a:t>
            </a:r>
            <a:pPr indent="0" marL="0">
              <a:buNone/>
            </a:pPr>
            <a:r>
              <a:rPr lang="en-US" sz="1050" dirty="0">
                <a:solidFill>
                  <a:srgbClr val="3B1A1A"/>
                </a:solidFill>
                <a:latin typeface="Calibri" pitchFamily="34" charset="0"/>
                <a:ea typeface="Calibri" pitchFamily="34" charset="-122"/>
                <a:cs typeface="Calibri" pitchFamily="34" charset="-120"/>
              </a:rPr>
              <a:t>Cloud LLM pipelines need de-identification and secure enclaves — adds infrastructure cost</a:t>
            </a:r>
            <a:endParaRPr lang="en-US" sz="1050" dirty="0"/>
          </a:p>
        </p:txBody>
      </p:sp>
      <p:sp>
        <p:nvSpPr>
          <p:cNvPr id="17" name="Text 13"/>
          <p:cNvSpPr/>
          <p:nvPr/>
        </p:nvSpPr>
        <p:spPr>
          <a:xfrm>
            <a:off x="4809744" y="3163824"/>
            <a:ext cx="3913632" cy="676656"/>
          </a:xfrm>
          <a:prstGeom prst="rect">
            <a:avLst/>
          </a:prstGeom>
          <a:noFill/>
          <a:ln/>
        </p:spPr>
        <p:txBody>
          <a:bodyPr wrap="square"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Model bias: </a:t>
            </a:r>
            <a:pPr indent="0" marL="0">
              <a:buNone/>
            </a:pPr>
            <a:r>
              <a:rPr lang="en-US" sz="1050" dirty="0">
                <a:solidFill>
                  <a:srgbClr val="3B1A1A"/>
                </a:solidFill>
                <a:latin typeface="Calibri" pitchFamily="34" charset="0"/>
                <a:ea typeface="Calibri" pitchFamily="34" charset="-122"/>
                <a:cs typeface="Calibri" pitchFamily="34" charset="-120"/>
              </a:rPr>
              <a:t>Historical claims data risks encoding care disparities into automated decisions</a:t>
            </a:r>
            <a:endParaRPr lang="en-US" sz="1050" dirty="0"/>
          </a:p>
        </p:txBody>
      </p:sp>
      <p:sp>
        <p:nvSpPr>
          <p:cNvPr id="18" name="Text 14"/>
          <p:cNvSpPr/>
          <p:nvPr/>
        </p:nvSpPr>
        <p:spPr>
          <a:xfrm>
            <a:off x="4809744" y="3959352"/>
            <a:ext cx="3913632" cy="676656"/>
          </a:xfrm>
          <a:prstGeom prst="rect">
            <a:avLst/>
          </a:prstGeom>
          <a:noFill/>
          <a:ln/>
        </p:spPr>
        <p:txBody>
          <a:bodyPr wrap="square"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Integration barrier: </a:t>
            </a:r>
            <a:pPr indent="0" marL="0">
              <a:buNone/>
            </a:pPr>
            <a:r>
              <a:rPr lang="en-US" sz="1050" dirty="0">
                <a:solidFill>
                  <a:srgbClr val="3B1A1A"/>
                </a:solidFill>
                <a:latin typeface="Calibri" pitchFamily="34" charset="0"/>
                <a:ea typeface="Calibri" pitchFamily="34" charset="-122"/>
                <a:cs typeface="Calibri" pitchFamily="34" charset="-120"/>
              </a:rPr>
              <a:t>POC-to-production gap is wide when integrating with legacy adjudication platforms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82880"/>
            <a:ext cx="82296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Strategic Recommendations for Cotiviti</a:t>
            </a:r>
            <a:endParaRPr lang="en-US" sz="2600" dirty="0"/>
          </a:p>
        </p:txBody>
      </p:sp>
      <p:sp>
        <p:nvSpPr>
          <p:cNvPr id="4" name="Shape 2"/>
          <p:cNvSpPr/>
          <p:nvPr/>
        </p:nvSpPr>
        <p:spPr>
          <a:xfrm>
            <a:off x="274320" y="914400"/>
            <a:ext cx="8595360" cy="1828800"/>
          </a:xfrm>
          <a:prstGeom prst="roundRect">
            <a:avLst>
              <a:gd name="adj" fmla="val 5000"/>
            </a:avLst>
          </a:prstGeom>
          <a:solidFill>
            <a:srgbClr val="112033"/>
          </a:solidFill>
          <a:ln/>
          <a:effectLst>
            <a:outerShdw sx="100000" sy="100000" kx="0" ky="0" algn="bl" rotWithShape="0" blurRad="76200" dist="25400" dir="2700000">
              <a:srgbClr val="000000">
                <a:alpha val="13000"/>
              </a:srgbClr>
            </a:outerShdw>
          </a:effectLst>
        </p:spPr>
      </p:sp>
      <p:sp>
        <p:nvSpPr>
          <p:cNvPr id="5" name="Shape 3"/>
          <p:cNvSpPr/>
          <p:nvPr/>
        </p:nvSpPr>
        <p:spPr>
          <a:xfrm>
            <a:off x="402336" y="1078992"/>
            <a:ext cx="594360" cy="594360"/>
          </a:xfrm>
          <a:prstGeom prst="ellipse">
            <a:avLst/>
          </a:prstGeom>
          <a:solidFill>
            <a:srgbClr val="0D9488"/>
          </a:solidFill>
          <a:ln w="12700">
            <a:solidFill>
              <a:srgbClr val="0D9488"/>
            </a:solidFill>
            <a:prstDash val="solid"/>
          </a:ln>
        </p:spPr>
      </p:sp>
      <p:sp>
        <p:nvSpPr>
          <p:cNvPr id="6" name="Text 4"/>
          <p:cNvSpPr/>
          <p:nvPr/>
        </p:nvSpPr>
        <p:spPr>
          <a:xfrm>
            <a:off x="402336" y="1078992"/>
            <a:ext cx="594360" cy="594360"/>
          </a:xfrm>
          <a:prstGeom prst="rect">
            <a:avLst/>
          </a:prstGeom>
          <a:noFill/>
          <a:ln/>
        </p:spPr>
        <p:txBody>
          <a:bodyPr wrap="square" rtlCol="0" anchor="ctr"/>
          <a:lstStyle/>
          <a:p>
            <a:pPr algn="ctr" indent="0" marL="0">
              <a:buNone/>
            </a:pPr>
            <a:r>
              <a:rPr lang="en-US" sz="2000" b="1" dirty="0">
                <a:solidFill>
                  <a:srgbClr val="0D2137"/>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133856" y="1078992"/>
            <a:ext cx="7132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Agentic Pre-Payment Integrity Engine</a:t>
            </a:r>
            <a:endParaRPr lang="en-US" sz="1400" dirty="0"/>
          </a:p>
        </p:txBody>
      </p:sp>
      <p:sp>
        <p:nvSpPr>
          <p:cNvPr id="8" name="Text 6"/>
          <p:cNvSpPr/>
          <p:nvPr/>
        </p:nvSpPr>
        <p:spPr>
          <a:xfrm>
            <a:off x="1133856" y="1463040"/>
            <a:ext cx="7498080" cy="1170432"/>
          </a:xfrm>
          <a:prstGeom prst="rect">
            <a:avLst/>
          </a:prstGeom>
          <a:noFill/>
          <a:ln/>
        </p:spPr>
        <p:txBody>
          <a:bodyPr wrap="square" rtlCol="0" anchor="ctr"/>
          <a:lstStyle/>
          <a:p>
            <a:pPr indent="0" marL="0">
              <a:buNone/>
            </a:pPr>
            <a:r>
              <a:rPr lang="en-US" sz="1150" dirty="0">
                <a:solidFill>
                  <a:srgbClr val="AABFD6"/>
                </a:solidFill>
                <a:latin typeface="Calibri" pitchFamily="34" charset="0"/>
                <a:ea typeface="Calibri" pitchFamily="34" charset="-122"/>
                <a:cs typeface="Calibri" pitchFamily="34" charset="-120"/>
              </a:rPr>
              <a:t>Build a 3-agent pipeline: Classifier Agent (XGBoost+SHAP) → RAG Agent (FAISS policy) → Summary Agent (clinical brief). Human-in-the-loop design extends the 2025 AI Center of Excellence toward a deployable pre-pay FWA product.</a:t>
            </a:r>
            <a:endParaRPr lang="en-US" sz="1150" dirty="0"/>
          </a:p>
        </p:txBody>
      </p:sp>
      <p:sp>
        <p:nvSpPr>
          <p:cNvPr id="9" name="Shape 7"/>
          <p:cNvSpPr/>
          <p:nvPr/>
        </p:nvSpPr>
        <p:spPr>
          <a:xfrm>
            <a:off x="274320" y="2926080"/>
            <a:ext cx="8595360" cy="1828800"/>
          </a:xfrm>
          <a:prstGeom prst="roundRect">
            <a:avLst>
              <a:gd name="adj" fmla="val 5000"/>
            </a:avLst>
          </a:prstGeom>
          <a:solidFill>
            <a:srgbClr val="112033"/>
          </a:solidFill>
          <a:ln/>
          <a:effectLst>
            <a:outerShdw sx="100000" sy="100000" kx="0" ky="0" algn="bl" rotWithShape="0" blurRad="76200" dist="25400" dir="2700000">
              <a:srgbClr val="000000">
                <a:alpha val="13000"/>
              </a:srgbClr>
            </a:outerShdw>
          </a:effectLst>
        </p:spPr>
      </p:sp>
      <p:sp>
        <p:nvSpPr>
          <p:cNvPr id="10" name="Shape 8"/>
          <p:cNvSpPr/>
          <p:nvPr/>
        </p:nvSpPr>
        <p:spPr>
          <a:xfrm>
            <a:off x="402336" y="3090672"/>
            <a:ext cx="594360" cy="594360"/>
          </a:xfrm>
          <a:prstGeom prst="ellipse">
            <a:avLst/>
          </a:prstGeom>
          <a:solidFill>
            <a:srgbClr val="F59E0B"/>
          </a:solidFill>
          <a:ln w="12700">
            <a:solidFill>
              <a:srgbClr val="F59E0B"/>
            </a:solidFill>
            <a:prstDash val="solid"/>
          </a:ln>
        </p:spPr>
      </p:sp>
      <p:sp>
        <p:nvSpPr>
          <p:cNvPr id="11" name="Text 9"/>
          <p:cNvSpPr/>
          <p:nvPr/>
        </p:nvSpPr>
        <p:spPr>
          <a:xfrm>
            <a:off x="402336" y="3090672"/>
            <a:ext cx="594360" cy="594360"/>
          </a:xfrm>
          <a:prstGeom prst="rect">
            <a:avLst/>
          </a:prstGeom>
          <a:noFill/>
          <a:ln/>
        </p:spPr>
        <p:txBody>
          <a:bodyPr wrap="square" rtlCol="0" anchor="ctr"/>
          <a:lstStyle/>
          <a:p>
            <a:pPr algn="ctr" indent="0" marL="0">
              <a:buNone/>
            </a:pPr>
            <a:r>
              <a:rPr lang="en-US" sz="2000" b="1" dirty="0">
                <a:solidFill>
                  <a:srgbClr val="0D2137"/>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133856" y="3090672"/>
            <a:ext cx="7132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Modular Anomaly Detection SaaS API</a:t>
            </a:r>
            <a:endParaRPr lang="en-US" sz="1400" dirty="0"/>
          </a:p>
        </p:txBody>
      </p:sp>
      <p:sp>
        <p:nvSpPr>
          <p:cNvPr id="13" name="Text 11"/>
          <p:cNvSpPr/>
          <p:nvPr/>
        </p:nvSpPr>
        <p:spPr>
          <a:xfrm>
            <a:off x="1133856" y="3474720"/>
            <a:ext cx="7498080" cy="1170432"/>
          </a:xfrm>
          <a:prstGeom prst="rect">
            <a:avLst/>
          </a:prstGeom>
          <a:noFill/>
          <a:ln/>
        </p:spPr>
        <p:txBody>
          <a:bodyPr wrap="square" rtlCol="0" anchor="ctr"/>
          <a:lstStyle/>
          <a:p>
            <a:pPr indent="0" marL="0">
              <a:buNone/>
            </a:pPr>
            <a:r>
              <a:rPr lang="en-US" sz="1150" dirty="0">
                <a:solidFill>
                  <a:srgbClr val="AABFD6"/>
                </a:solidFill>
                <a:latin typeface="Calibri" pitchFamily="34" charset="0"/>
                <a:ea typeface="Calibri" pitchFamily="34" charset="-122"/>
                <a:cs typeface="Calibri" pitchFamily="34" charset="-120"/>
              </a:rPr>
              <a:t>Package XGBoost anomaly scoring and SHAP explainability as an API-first SaaS module embeddable directly into payer adjudication platforms. Positions Cotiviti ahead of anticipated CMS AI governance regulations.</a:t>
            </a:r>
            <a:endParaRPr lang="en-US" sz="1150" dirty="0"/>
          </a:p>
        </p:txBody>
      </p:sp>
      <p:sp>
        <p:nvSpPr>
          <p:cNvPr id="14" name="Text 12"/>
          <p:cNvSpPr/>
          <p:nvPr/>
        </p:nvSpPr>
        <p:spPr>
          <a:xfrm>
            <a:off x="457200" y="4846320"/>
            <a:ext cx="8229600" cy="256032"/>
          </a:xfrm>
          <a:prstGeom prst="rect">
            <a:avLst/>
          </a:prstGeom>
          <a:noFill/>
          <a:ln/>
        </p:spPr>
        <p:txBody>
          <a:bodyPr wrap="square" rtlCol="0" anchor="ctr"/>
          <a:lstStyle/>
          <a:p>
            <a:pPr algn="ctr" indent="0" marL="0">
              <a:buNone/>
            </a:pPr>
            <a:r>
              <a:rPr lang="en-US" sz="1100" i="1" dirty="0">
                <a:solidFill>
                  <a:srgbClr val="14B8A6"/>
                </a:solidFill>
                <a:latin typeface="Calibri" pitchFamily="34" charset="0"/>
                <a:ea typeface="Calibri" pitchFamily="34" charset="-122"/>
                <a:cs typeface="Calibri" pitchFamily="34" charset="-120"/>
              </a:rPr>
              <a:t>Both recommendations are grounded in the working POC demonstrated in this assessment.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Technology Stack</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Every library used in the POC — what it does and why it was chosen</a:t>
            </a:r>
            <a:endParaRPr lang="en-US" sz="1200" dirty="0"/>
          </a:p>
        </p:txBody>
      </p:sp>
      <p:sp>
        <p:nvSpPr>
          <p:cNvPr id="5" name="Shape 3"/>
          <p:cNvSpPr/>
          <p:nvPr/>
        </p:nvSpPr>
        <p:spPr>
          <a:xfrm>
            <a:off x="256032" y="1097280"/>
            <a:ext cx="2834640" cy="1719072"/>
          </a:xfrm>
          <a:prstGeom prst="roundRect">
            <a:avLst>
              <a:gd name="adj" fmla="val 5319"/>
            </a:avLst>
          </a:prstGeom>
          <a:solidFill>
            <a:srgbClr val="F0F7FF"/>
          </a:solidFill>
          <a:ln/>
          <a:effectLst>
            <a:outerShdw sx="100000" sy="100000" kx="0" ky="0" algn="bl" rotWithShape="0" blurRad="76200" dist="25400" dir="2700000">
              <a:srgbClr val="000000">
                <a:alpha val="13000"/>
              </a:srgbClr>
            </a:outerShdw>
          </a:effectLst>
        </p:spPr>
      </p:sp>
      <p:sp>
        <p:nvSpPr>
          <p:cNvPr id="6" name="Shape 4"/>
          <p:cNvSpPr/>
          <p:nvPr/>
        </p:nvSpPr>
        <p:spPr>
          <a:xfrm>
            <a:off x="384048" y="1225296"/>
            <a:ext cx="502920" cy="502920"/>
          </a:xfrm>
          <a:prstGeom prst="ellipse">
            <a:avLst/>
          </a:prstGeom>
          <a:solidFill>
            <a:srgbClr val="1A4B7A"/>
          </a:solidFill>
          <a:ln w="12700">
            <a:solidFill>
              <a:srgbClr val="1A4B7A"/>
            </a:solidFill>
            <a:prstDash val="solid"/>
          </a:ln>
        </p:spPr>
      </p:sp>
      <p:pic>
        <p:nvPicPr>
          <p:cNvPr id="7" name="Image 0" descr="preencoded.png">    </p:cNvPr>
          <p:cNvPicPr>
            <a:picLocks noChangeAspect="1"/>
          </p:cNvPicPr>
          <p:nvPr/>
        </p:nvPicPr>
        <p:blipFill>
          <a:blip r:embed="rId1"/>
          <a:stretch>
            <a:fillRect/>
          </a:stretch>
        </p:blipFill>
        <p:spPr>
          <a:xfrm>
            <a:off x="466344" y="1307592"/>
            <a:ext cx="338328" cy="338328"/>
          </a:xfrm>
          <a:prstGeom prst="rect">
            <a:avLst/>
          </a:prstGeom>
        </p:spPr>
      </p:pic>
      <p:sp>
        <p:nvSpPr>
          <p:cNvPr id="8" name="Text 5"/>
          <p:cNvSpPr/>
          <p:nvPr/>
        </p:nvSpPr>
        <p:spPr>
          <a:xfrm>
            <a:off x="987552" y="1225296"/>
            <a:ext cx="1965960" cy="320040"/>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XGBoost</a:t>
            </a:r>
            <a:endParaRPr lang="en-US" sz="1300" dirty="0"/>
          </a:p>
        </p:txBody>
      </p:sp>
      <p:sp>
        <p:nvSpPr>
          <p:cNvPr id="9" name="Text 6"/>
          <p:cNvSpPr/>
          <p:nvPr/>
        </p:nvSpPr>
        <p:spPr>
          <a:xfrm>
            <a:off x="365760" y="1664208"/>
            <a:ext cx="2606040" cy="1042416"/>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Industry standard for structured claims data. Gradient boosting ensemble — each tree corrects prior errors.</a:t>
            </a:r>
            <a:endParaRPr lang="en-US" sz="1000" dirty="0"/>
          </a:p>
        </p:txBody>
      </p:sp>
      <p:sp>
        <p:nvSpPr>
          <p:cNvPr id="10" name="Shape 7"/>
          <p:cNvSpPr/>
          <p:nvPr/>
        </p:nvSpPr>
        <p:spPr>
          <a:xfrm>
            <a:off x="3218688" y="1097280"/>
            <a:ext cx="2834640" cy="1719072"/>
          </a:xfrm>
          <a:prstGeom prst="roundRect">
            <a:avLst>
              <a:gd name="adj" fmla="val 5319"/>
            </a:avLst>
          </a:prstGeom>
          <a:solidFill>
            <a:srgbClr val="F0F7FF"/>
          </a:solidFill>
          <a:ln/>
          <a:effectLst>
            <a:outerShdw sx="100000" sy="100000" kx="0" ky="0" algn="bl" rotWithShape="0" blurRad="76200" dist="25400" dir="2700000">
              <a:srgbClr val="000000">
                <a:alpha val="13000"/>
              </a:srgbClr>
            </a:outerShdw>
          </a:effectLst>
        </p:spPr>
      </p:sp>
      <p:sp>
        <p:nvSpPr>
          <p:cNvPr id="11" name="Shape 8"/>
          <p:cNvSpPr/>
          <p:nvPr/>
        </p:nvSpPr>
        <p:spPr>
          <a:xfrm>
            <a:off x="3346704" y="1225296"/>
            <a:ext cx="502920" cy="502920"/>
          </a:xfrm>
          <a:prstGeom prst="ellipse">
            <a:avLst/>
          </a:prstGeom>
          <a:solidFill>
            <a:srgbClr val="0D9488"/>
          </a:solidFill>
          <a:ln w="1270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3429000" y="1307592"/>
            <a:ext cx="338328" cy="338328"/>
          </a:xfrm>
          <a:prstGeom prst="rect">
            <a:avLst/>
          </a:prstGeom>
        </p:spPr>
      </p:pic>
      <p:sp>
        <p:nvSpPr>
          <p:cNvPr id="13" name="Text 9"/>
          <p:cNvSpPr/>
          <p:nvPr/>
        </p:nvSpPr>
        <p:spPr>
          <a:xfrm>
            <a:off x="3950208" y="1225296"/>
            <a:ext cx="1965960" cy="320040"/>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SMOTE</a:t>
            </a:r>
            <a:endParaRPr lang="en-US" sz="1300" dirty="0"/>
          </a:p>
        </p:txBody>
      </p:sp>
      <p:sp>
        <p:nvSpPr>
          <p:cNvPr id="14" name="Text 10"/>
          <p:cNvSpPr/>
          <p:nvPr/>
        </p:nvSpPr>
        <p:spPr>
          <a:xfrm>
            <a:off x="3328416" y="1664208"/>
            <a:ext cx="2606040" cy="1042416"/>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Synthetic Minority Oversampling. Balances the anomaly class so model learns both classes properly.</a:t>
            </a:r>
            <a:endParaRPr lang="en-US" sz="1000" dirty="0"/>
          </a:p>
        </p:txBody>
      </p:sp>
      <p:sp>
        <p:nvSpPr>
          <p:cNvPr id="15" name="Shape 11"/>
          <p:cNvSpPr/>
          <p:nvPr/>
        </p:nvSpPr>
        <p:spPr>
          <a:xfrm>
            <a:off x="6181344" y="1097280"/>
            <a:ext cx="2834640" cy="1719072"/>
          </a:xfrm>
          <a:prstGeom prst="roundRect">
            <a:avLst>
              <a:gd name="adj" fmla="val 5319"/>
            </a:avLst>
          </a:prstGeom>
          <a:solidFill>
            <a:srgbClr val="F0F7FF"/>
          </a:solidFill>
          <a:ln/>
          <a:effectLst>
            <a:outerShdw sx="100000" sy="100000" kx="0" ky="0" algn="bl" rotWithShape="0" blurRad="76200" dist="25400" dir="2700000">
              <a:srgbClr val="000000">
                <a:alpha val="13000"/>
              </a:srgbClr>
            </a:outerShdw>
          </a:effectLst>
        </p:spPr>
      </p:sp>
      <p:sp>
        <p:nvSpPr>
          <p:cNvPr id="16" name="Shape 12"/>
          <p:cNvSpPr/>
          <p:nvPr/>
        </p:nvSpPr>
        <p:spPr>
          <a:xfrm>
            <a:off x="6309360" y="1225296"/>
            <a:ext cx="502920" cy="502920"/>
          </a:xfrm>
          <a:prstGeom prst="ellipse">
            <a:avLst/>
          </a:prstGeom>
          <a:solidFill>
            <a:srgbClr val="7C3AED"/>
          </a:solidFill>
          <a:ln w="12700">
            <a:solidFill>
              <a:srgbClr val="7C3AED"/>
            </a:solidFill>
            <a:prstDash val="solid"/>
          </a:ln>
        </p:spPr>
      </p:sp>
      <p:pic>
        <p:nvPicPr>
          <p:cNvPr id="17" name="Image 2" descr="preencoded.png">    </p:cNvPr>
          <p:cNvPicPr>
            <a:picLocks noChangeAspect="1"/>
          </p:cNvPicPr>
          <p:nvPr/>
        </p:nvPicPr>
        <p:blipFill>
          <a:blip r:embed="rId3"/>
          <a:stretch>
            <a:fillRect/>
          </a:stretch>
        </p:blipFill>
        <p:spPr>
          <a:xfrm>
            <a:off x="6391656" y="1307592"/>
            <a:ext cx="338328" cy="338328"/>
          </a:xfrm>
          <a:prstGeom prst="rect">
            <a:avLst/>
          </a:prstGeom>
        </p:spPr>
      </p:pic>
      <p:sp>
        <p:nvSpPr>
          <p:cNvPr id="18" name="Text 13"/>
          <p:cNvSpPr/>
          <p:nvPr/>
        </p:nvSpPr>
        <p:spPr>
          <a:xfrm>
            <a:off x="6912864" y="1225296"/>
            <a:ext cx="1965960" cy="320040"/>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SHAP</a:t>
            </a:r>
            <a:endParaRPr lang="en-US" sz="1300" dirty="0"/>
          </a:p>
        </p:txBody>
      </p:sp>
      <p:sp>
        <p:nvSpPr>
          <p:cNvPr id="19" name="Text 14"/>
          <p:cNvSpPr/>
          <p:nvPr/>
        </p:nvSpPr>
        <p:spPr>
          <a:xfrm>
            <a:off x="6291072" y="1664208"/>
            <a:ext cx="2606040" cy="1042416"/>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SHapley Additive exPlanations. Makes every prediction auditable — shows which features drove the flag.</a:t>
            </a:r>
            <a:endParaRPr lang="en-US" sz="1000" dirty="0"/>
          </a:p>
        </p:txBody>
      </p:sp>
      <p:sp>
        <p:nvSpPr>
          <p:cNvPr id="20" name="Shape 15"/>
          <p:cNvSpPr/>
          <p:nvPr/>
        </p:nvSpPr>
        <p:spPr>
          <a:xfrm>
            <a:off x="256032" y="2971800"/>
            <a:ext cx="2834640" cy="1719072"/>
          </a:xfrm>
          <a:prstGeom prst="roundRect">
            <a:avLst>
              <a:gd name="adj" fmla="val 5319"/>
            </a:avLst>
          </a:prstGeom>
          <a:solidFill>
            <a:srgbClr val="F0F7FF"/>
          </a:solidFill>
          <a:ln/>
          <a:effectLst>
            <a:outerShdw sx="100000" sy="100000" kx="0" ky="0" algn="bl" rotWithShape="0" blurRad="76200" dist="25400" dir="2700000">
              <a:srgbClr val="000000">
                <a:alpha val="13000"/>
              </a:srgbClr>
            </a:outerShdw>
          </a:effectLst>
        </p:spPr>
      </p:sp>
      <p:sp>
        <p:nvSpPr>
          <p:cNvPr id="21" name="Shape 16"/>
          <p:cNvSpPr/>
          <p:nvPr/>
        </p:nvSpPr>
        <p:spPr>
          <a:xfrm>
            <a:off x="384048" y="3099816"/>
            <a:ext cx="502920" cy="502920"/>
          </a:xfrm>
          <a:prstGeom prst="ellipse">
            <a:avLst/>
          </a:prstGeom>
          <a:solidFill>
            <a:srgbClr val="0369A1"/>
          </a:solidFill>
          <a:ln w="12700">
            <a:solidFill>
              <a:srgbClr val="0369A1"/>
            </a:solidFill>
            <a:prstDash val="solid"/>
          </a:ln>
        </p:spPr>
      </p:sp>
      <p:pic>
        <p:nvPicPr>
          <p:cNvPr id="22" name="Image 3" descr="preencoded.png">    </p:cNvPr>
          <p:cNvPicPr>
            <a:picLocks noChangeAspect="1"/>
          </p:cNvPicPr>
          <p:nvPr/>
        </p:nvPicPr>
        <p:blipFill>
          <a:blip r:embed="rId4"/>
          <a:stretch>
            <a:fillRect/>
          </a:stretch>
        </p:blipFill>
        <p:spPr>
          <a:xfrm>
            <a:off x="466344" y="3182112"/>
            <a:ext cx="338328" cy="338328"/>
          </a:xfrm>
          <a:prstGeom prst="rect">
            <a:avLst/>
          </a:prstGeom>
        </p:spPr>
      </p:pic>
      <p:sp>
        <p:nvSpPr>
          <p:cNvPr id="23" name="Text 17"/>
          <p:cNvSpPr/>
          <p:nvPr/>
        </p:nvSpPr>
        <p:spPr>
          <a:xfrm>
            <a:off x="987552" y="3099816"/>
            <a:ext cx="1965960" cy="320040"/>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FAISS</a:t>
            </a:r>
            <a:endParaRPr lang="en-US" sz="1300" dirty="0"/>
          </a:p>
        </p:txBody>
      </p:sp>
      <p:sp>
        <p:nvSpPr>
          <p:cNvPr id="24" name="Text 18"/>
          <p:cNvSpPr/>
          <p:nvPr/>
        </p:nvSpPr>
        <p:spPr>
          <a:xfrm>
            <a:off x="365760" y="3538728"/>
            <a:ext cx="2606040" cy="1042416"/>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Facebook AI Similarity Search. Ultra-fast vector database for semantic policy document retrieval.</a:t>
            </a:r>
            <a:endParaRPr lang="en-US" sz="1000" dirty="0"/>
          </a:p>
        </p:txBody>
      </p:sp>
      <p:sp>
        <p:nvSpPr>
          <p:cNvPr id="25" name="Shape 19"/>
          <p:cNvSpPr/>
          <p:nvPr/>
        </p:nvSpPr>
        <p:spPr>
          <a:xfrm>
            <a:off x="3218688" y="2971800"/>
            <a:ext cx="2834640" cy="1719072"/>
          </a:xfrm>
          <a:prstGeom prst="roundRect">
            <a:avLst>
              <a:gd name="adj" fmla="val 5319"/>
            </a:avLst>
          </a:prstGeom>
          <a:solidFill>
            <a:srgbClr val="F0F7FF"/>
          </a:solidFill>
          <a:ln/>
          <a:effectLst>
            <a:outerShdw sx="100000" sy="100000" kx="0" ky="0" algn="bl" rotWithShape="0" blurRad="76200" dist="25400" dir="2700000">
              <a:srgbClr val="000000">
                <a:alpha val="13000"/>
              </a:srgbClr>
            </a:outerShdw>
          </a:effectLst>
        </p:spPr>
      </p:sp>
      <p:sp>
        <p:nvSpPr>
          <p:cNvPr id="26" name="Shape 20"/>
          <p:cNvSpPr/>
          <p:nvPr/>
        </p:nvSpPr>
        <p:spPr>
          <a:xfrm>
            <a:off x="3346704" y="3099816"/>
            <a:ext cx="502920" cy="502920"/>
          </a:xfrm>
          <a:prstGeom prst="ellipse">
            <a:avLst/>
          </a:prstGeom>
          <a:solidFill>
            <a:srgbClr val="0D9488"/>
          </a:solidFill>
          <a:ln w="12700">
            <a:solidFill>
              <a:srgbClr val="0D9488"/>
            </a:solidFill>
            <a:prstDash val="solid"/>
          </a:ln>
        </p:spPr>
      </p:sp>
      <p:pic>
        <p:nvPicPr>
          <p:cNvPr id="27" name="Image 4" descr="preencoded.png">    </p:cNvPr>
          <p:cNvPicPr>
            <a:picLocks noChangeAspect="1"/>
          </p:cNvPicPr>
          <p:nvPr/>
        </p:nvPicPr>
        <p:blipFill>
          <a:blip r:embed="rId5"/>
          <a:stretch>
            <a:fillRect/>
          </a:stretch>
        </p:blipFill>
        <p:spPr>
          <a:xfrm>
            <a:off x="3429000" y="3182112"/>
            <a:ext cx="338328" cy="338328"/>
          </a:xfrm>
          <a:prstGeom prst="rect">
            <a:avLst/>
          </a:prstGeom>
        </p:spPr>
      </p:pic>
      <p:sp>
        <p:nvSpPr>
          <p:cNvPr id="28" name="Text 21"/>
          <p:cNvSpPr/>
          <p:nvPr/>
        </p:nvSpPr>
        <p:spPr>
          <a:xfrm>
            <a:off x="3950208" y="3099816"/>
            <a:ext cx="1965960" cy="320040"/>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Sentence Transformers</a:t>
            </a:r>
            <a:endParaRPr lang="en-US" sz="1300" dirty="0"/>
          </a:p>
        </p:txBody>
      </p:sp>
      <p:sp>
        <p:nvSpPr>
          <p:cNvPr id="29" name="Text 22"/>
          <p:cNvSpPr/>
          <p:nvPr/>
        </p:nvSpPr>
        <p:spPr>
          <a:xfrm>
            <a:off x="3328416" y="3538728"/>
            <a:ext cx="2606040" cy="1042416"/>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Converts policy text to 384-dim semantic vectors for meaning-based search rather than keyword matching.</a:t>
            </a:r>
            <a:endParaRPr lang="en-US" sz="1000" dirty="0"/>
          </a:p>
        </p:txBody>
      </p:sp>
      <p:sp>
        <p:nvSpPr>
          <p:cNvPr id="30" name="Shape 23"/>
          <p:cNvSpPr/>
          <p:nvPr/>
        </p:nvSpPr>
        <p:spPr>
          <a:xfrm>
            <a:off x="6181344" y="2971800"/>
            <a:ext cx="2834640" cy="1719072"/>
          </a:xfrm>
          <a:prstGeom prst="roundRect">
            <a:avLst>
              <a:gd name="adj" fmla="val 5319"/>
            </a:avLst>
          </a:prstGeom>
          <a:solidFill>
            <a:srgbClr val="F0F7FF"/>
          </a:solidFill>
          <a:ln/>
          <a:effectLst>
            <a:outerShdw sx="100000" sy="100000" kx="0" ky="0" algn="bl" rotWithShape="0" blurRad="76200" dist="25400" dir="2700000">
              <a:srgbClr val="000000">
                <a:alpha val="13000"/>
              </a:srgbClr>
            </a:outerShdw>
          </a:effectLst>
        </p:spPr>
      </p:sp>
      <p:sp>
        <p:nvSpPr>
          <p:cNvPr id="31" name="Shape 24"/>
          <p:cNvSpPr/>
          <p:nvPr/>
        </p:nvSpPr>
        <p:spPr>
          <a:xfrm>
            <a:off x="6309360" y="3099816"/>
            <a:ext cx="502920" cy="502920"/>
          </a:xfrm>
          <a:prstGeom prst="ellipse">
            <a:avLst/>
          </a:prstGeom>
          <a:solidFill>
            <a:srgbClr val="F59E0B"/>
          </a:solidFill>
          <a:ln w="12700">
            <a:solidFill>
              <a:srgbClr val="F59E0B"/>
            </a:solidFill>
            <a:prstDash val="solid"/>
          </a:ln>
        </p:spPr>
      </p:sp>
      <p:pic>
        <p:nvPicPr>
          <p:cNvPr id="32" name="Image 5" descr="preencoded.png">    </p:cNvPr>
          <p:cNvPicPr>
            <a:picLocks noChangeAspect="1"/>
          </p:cNvPicPr>
          <p:nvPr/>
        </p:nvPicPr>
        <p:blipFill>
          <a:blip r:embed="rId6"/>
          <a:stretch>
            <a:fillRect/>
          </a:stretch>
        </p:blipFill>
        <p:spPr>
          <a:xfrm>
            <a:off x="6391656" y="3182112"/>
            <a:ext cx="338328" cy="338328"/>
          </a:xfrm>
          <a:prstGeom prst="rect">
            <a:avLst/>
          </a:prstGeom>
        </p:spPr>
      </p:pic>
      <p:sp>
        <p:nvSpPr>
          <p:cNvPr id="33" name="Text 25"/>
          <p:cNvSpPr/>
          <p:nvPr/>
        </p:nvSpPr>
        <p:spPr>
          <a:xfrm>
            <a:off x="6912864" y="3099816"/>
            <a:ext cx="1965960" cy="320040"/>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3-Agent Pipeline</a:t>
            </a:r>
            <a:endParaRPr lang="en-US" sz="1300" dirty="0"/>
          </a:p>
        </p:txBody>
      </p:sp>
      <p:sp>
        <p:nvSpPr>
          <p:cNvPr id="34" name="Text 26"/>
          <p:cNvSpPr/>
          <p:nvPr/>
        </p:nvSpPr>
        <p:spPr>
          <a:xfrm>
            <a:off x="6291072" y="3538728"/>
            <a:ext cx="2606040" cy="1042416"/>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Agentic AI pattern. Each agent has one job. Together they automate clinical review prep end-to-end.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4B8A6"/>
          </a:solidFill>
          <a:ln w="12700">
            <a:solidFill>
              <a:srgbClr val="14B8A6"/>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POC Architecture — 3-Agent Claims Anomaly Detection Pipeline</a:t>
            </a:r>
            <a:endParaRPr lang="en-US" sz="2200" dirty="0"/>
          </a:p>
        </p:txBody>
      </p:sp>
      <p:sp>
        <p:nvSpPr>
          <p:cNvPr id="4" name="Shape 2"/>
          <p:cNvSpPr/>
          <p:nvPr/>
        </p:nvSpPr>
        <p:spPr>
          <a:xfrm>
            <a:off x="228600" y="987552"/>
            <a:ext cx="1737360" cy="3566160"/>
          </a:xfrm>
          <a:prstGeom prst="roundRect">
            <a:avLst>
              <a:gd name="adj" fmla="val 5263"/>
            </a:avLst>
          </a:prstGeom>
          <a:solidFill>
            <a:srgbClr val="1C3A52"/>
          </a:solidFill>
          <a:ln/>
          <a:effectLst>
            <a:outerShdw sx="100000" sy="100000" kx="0" ky="0" algn="bl" rotWithShape="0" blurRad="76200" dist="25400" dir="2700000">
              <a:srgbClr val="000000">
                <a:alpha val="13000"/>
              </a:srgbClr>
            </a:outerShdw>
          </a:effectLst>
        </p:spPr>
      </p:sp>
      <p:sp>
        <p:nvSpPr>
          <p:cNvPr id="5" name="Text 3"/>
          <p:cNvSpPr/>
          <p:nvPr/>
        </p:nvSpPr>
        <p:spPr>
          <a:xfrm>
            <a:off x="228600" y="2331720"/>
            <a:ext cx="1737360" cy="54864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CLAIM</a:t>
            </a:r>
            <a:endParaRPr lang="en-US" sz="1300" dirty="0"/>
          </a:p>
          <a:p>
            <a:pPr algn="ctr" indent="0" marL="0">
              <a:buNone/>
            </a:pPr>
            <a:r>
              <a:rPr lang="en-US" sz="1300" b="1" dirty="0">
                <a:solidFill>
                  <a:srgbClr val="14B8A6"/>
                </a:solidFill>
                <a:latin typeface="Calibri" pitchFamily="34" charset="0"/>
                <a:ea typeface="Calibri" pitchFamily="34" charset="-122"/>
                <a:cs typeface="Calibri" pitchFamily="34" charset="-120"/>
              </a:rPr>
              <a:t>INPUT</a:t>
            </a:r>
            <a:endParaRPr lang="en-US" sz="1300" dirty="0"/>
          </a:p>
        </p:txBody>
      </p:sp>
      <p:sp>
        <p:nvSpPr>
          <p:cNvPr id="6" name="Text 4"/>
          <p:cNvSpPr/>
          <p:nvPr/>
        </p:nvSpPr>
        <p:spPr>
          <a:xfrm>
            <a:off x="274320" y="2907792"/>
            <a:ext cx="1645920" cy="1508760"/>
          </a:xfrm>
          <a:prstGeom prst="rect">
            <a:avLst/>
          </a:prstGeom>
          <a:noFill/>
          <a:ln/>
        </p:spPr>
        <p:txBody>
          <a:bodyPr wrap="square" rtlCol="0" anchor="ctr"/>
          <a:lstStyle/>
          <a:p>
            <a:pPr algn="ctr" indent="0" marL="0">
              <a:buNone/>
            </a:pPr>
            <a:r>
              <a:rPr lang="en-US" sz="950" dirty="0">
                <a:solidFill>
                  <a:srgbClr val="7EA8C8"/>
                </a:solidFill>
                <a:latin typeface="Calibri" pitchFamily="34" charset="0"/>
                <a:ea typeface="Calibri" pitchFamily="34" charset="-122"/>
                <a:cs typeface="Calibri" pitchFamily="34" charset="-120"/>
              </a:rPr>
              <a:t>Provider</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Diagnosis</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Billed $</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Procedures</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Days</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Modifiers</a:t>
            </a:r>
            <a:endParaRPr lang="en-US" sz="950" dirty="0"/>
          </a:p>
        </p:txBody>
      </p:sp>
      <p:sp>
        <p:nvSpPr>
          <p:cNvPr id="7" name="Text 5"/>
          <p:cNvSpPr/>
          <p:nvPr/>
        </p:nvSpPr>
        <p:spPr>
          <a:xfrm>
            <a:off x="1993392" y="2468880"/>
            <a:ext cx="365760" cy="365760"/>
          </a:xfrm>
          <a:prstGeom prst="rect">
            <a:avLst/>
          </a:prstGeom>
          <a:noFill/>
          <a:ln/>
        </p:spPr>
        <p:txBody>
          <a:bodyPr wrap="square" rtlCol="0" anchor="ctr"/>
          <a:lstStyle/>
          <a:p>
            <a:pPr algn="ctr" indent="0" marL="0">
              <a:buNone/>
            </a:pPr>
            <a:r>
              <a:rPr lang="en-US" sz="2200" dirty="0">
                <a:solidFill>
                  <a:srgbClr val="14B8A6"/>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377440" y="987552"/>
            <a:ext cx="1920240" cy="3566160"/>
          </a:xfrm>
          <a:prstGeom prst="roundRect">
            <a:avLst>
              <a:gd name="adj" fmla="val 4762"/>
            </a:avLst>
          </a:prstGeom>
          <a:solidFill>
            <a:srgbClr val="112033"/>
          </a:solidFill>
          <a:ln/>
          <a:effectLst>
            <a:outerShdw sx="100000" sy="100000" kx="0" ky="0" algn="bl" rotWithShape="0" blurRad="76200" dist="25400" dir="2700000">
              <a:srgbClr val="000000">
                <a:alpha val="13000"/>
              </a:srgbClr>
            </a:outerShdw>
          </a:effectLst>
        </p:spPr>
      </p:sp>
      <p:sp>
        <p:nvSpPr>
          <p:cNvPr id="9" name="Shape 7"/>
          <p:cNvSpPr/>
          <p:nvPr/>
        </p:nvSpPr>
        <p:spPr>
          <a:xfrm>
            <a:off x="3017520" y="1115568"/>
            <a:ext cx="594360" cy="594360"/>
          </a:xfrm>
          <a:prstGeom prst="ellipse">
            <a:avLst/>
          </a:prstGeom>
          <a:solidFill>
            <a:srgbClr val="0D9488"/>
          </a:solidFill>
          <a:ln w="12700">
            <a:solidFill>
              <a:srgbClr val="0D9488"/>
            </a:solidFill>
            <a:prstDash val="solid"/>
          </a:ln>
        </p:spPr>
      </p:sp>
      <p:pic>
        <p:nvPicPr>
          <p:cNvPr id="10" name="Image 0" descr="preencoded.png">    </p:cNvPr>
          <p:cNvPicPr>
            <a:picLocks noChangeAspect="1"/>
          </p:cNvPicPr>
          <p:nvPr/>
        </p:nvPicPr>
        <p:blipFill>
          <a:blip r:embed="rId1"/>
          <a:stretch>
            <a:fillRect/>
          </a:stretch>
        </p:blipFill>
        <p:spPr>
          <a:xfrm>
            <a:off x="3108960" y="1207008"/>
            <a:ext cx="411480" cy="411480"/>
          </a:xfrm>
          <a:prstGeom prst="rect">
            <a:avLst/>
          </a:prstGeom>
        </p:spPr>
      </p:pic>
      <p:sp>
        <p:nvSpPr>
          <p:cNvPr id="11" name="Text 8"/>
          <p:cNvSpPr/>
          <p:nvPr/>
        </p:nvSpPr>
        <p:spPr>
          <a:xfrm>
            <a:off x="2377440" y="1783080"/>
            <a:ext cx="1920240"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 1</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Classifier</a:t>
            </a:r>
            <a:endParaRPr lang="en-US" sz="1200" dirty="0"/>
          </a:p>
        </p:txBody>
      </p:sp>
      <p:sp>
        <p:nvSpPr>
          <p:cNvPr id="12" name="Text 9"/>
          <p:cNvSpPr/>
          <p:nvPr/>
        </p:nvSpPr>
        <p:spPr>
          <a:xfrm>
            <a:off x="2423160" y="2331720"/>
            <a:ext cx="1828800" cy="2103120"/>
          </a:xfrm>
          <a:prstGeom prst="rect">
            <a:avLst/>
          </a:prstGeom>
          <a:noFill/>
          <a:ln/>
        </p:spPr>
        <p:txBody>
          <a:bodyPr wrap="square" rtlCol="0" anchor="ctr"/>
          <a:lstStyle/>
          <a:p>
            <a:pPr algn="ctr" indent="0" marL="0">
              <a:buNone/>
            </a:pPr>
            <a:r>
              <a:rPr lang="en-US" sz="950" dirty="0">
                <a:solidFill>
                  <a:srgbClr val="7EA8C8"/>
                </a:solidFill>
                <a:latin typeface="Calibri" pitchFamily="34" charset="0"/>
                <a:ea typeface="Calibri" pitchFamily="34" charset="-122"/>
                <a:cs typeface="Calibri" pitchFamily="34" charset="-120"/>
              </a:rPr>
              <a:t>XGBoost scores</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the claim 0→1</a:t>
            </a:r>
            <a:endParaRPr lang="en-US" sz="950" dirty="0"/>
          </a:p>
          <a:p>
            <a:pPr algn="ctr" indent="0" marL="0">
              <a:buNone/>
            </a:pP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SHAP identifies</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top 3 drivers</a:t>
            </a:r>
            <a:endParaRPr lang="en-US" sz="950" dirty="0"/>
          </a:p>
          <a:p>
            <a:pPr algn="ctr" indent="0" marL="0">
              <a:buNone/>
            </a:pP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Outputs: score,</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risk, features</a:t>
            </a:r>
            <a:endParaRPr lang="en-US" sz="950" dirty="0"/>
          </a:p>
        </p:txBody>
      </p:sp>
      <p:sp>
        <p:nvSpPr>
          <p:cNvPr id="13" name="Text 10"/>
          <p:cNvSpPr/>
          <p:nvPr/>
        </p:nvSpPr>
        <p:spPr>
          <a:xfrm>
            <a:off x="4325112" y="2468880"/>
            <a:ext cx="365760" cy="365760"/>
          </a:xfrm>
          <a:prstGeom prst="rect">
            <a:avLst/>
          </a:prstGeom>
          <a:noFill/>
          <a:ln/>
        </p:spPr>
        <p:txBody>
          <a:bodyPr wrap="square" rtlCol="0" anchor="ctr"/>
          <a:lstStyle/>
          <a:p>
            <a:pPr algn="ctr" indent="0" marL="0">
              <a:buNone/>
            </a:pPr>
            <a:r>
              <a:rPr lang="en-US" sz="2200" dirty="0">
                <a:solidFill>
                  <a:srgbClr val="14B8A6"/>
                </a:solidFill>
                <a:latin typeface="Calibri" pitchFamily="34" charset="0"/>
                <a:ea typeface="Calibri" pitchFamily="34" charset="-122"/>
                <a:cs typeface="Calibri" pitchFamily="34" charset="-120"/>
              </a:rPr>
              <a:t>➡</a:t>
            </a:r>
            <a:endParaRPr lang="en-US" sz="2200" dirty="0"/>
          </a:p>
        </p:txBody>
      </p:sp>
      <p:sp>
        <p:nvSpPr>
          <p:cNvPr id="14" name="Shape 11"/>
          <p:cNvSpPr/>
          <p:nvPr/>
        </p:nvSpPr>
        <p:spPr>
          <a:xfrm>
            <a:off x="4709160" y="987552"/>
            <a:ext cx="1920240" cy="3566160"/>
          </a:xfrm>
          <a:prstGeom prst="roundRect">
            <a:avLst>
              <a:gd name="adj" fmla="val 4762"/>
            </a:avLst>
          </a:prstGeom>
          <a:solidFill>
            <a:srgbClr val="112033"/>
          </a:solidFill>
          <a:ln/>
          <a:effectLst>
            <a:outerShdw sx="100000" sy="100000" kx="0" ky="0" algn="bl" rotWithShape="0" blurRad="76200" dist="25400" dir="2700000">
              <a:srgbClr val="000000">
                <a:alpha val="13000"/>
              </a:srgbClr>
            </a:outerShdw>
          </a:effectLst>
        </p:spPr>
      </p:sp>
      <p:sp>
        <p:nvSpPr>
          <p:cNvPr id="15" name="Shape 12"/>
          <p:cNvSpPr/>
          <p:nvPr/>
        </p:nvSpPr>
        <p:spPr>
          <a:xfrm>
            <a:off x="5349240" y="1115568"/>
            <a:ext cx="594360" cy="594360"/>
          </a:xfrm>
          <a:prstGeom prst="ellipse">
            <a:avLst/>
          </a:prstGeom>
          <a:solidFill>
            <a:srgbClr val="1A4B7A"/>
          </a:solidFill>
          <a:ln w="12700">
            <a:solidFill>
              <a:srgbClr val="1A4B7A"/>
            </a:solidFill>
            <a:prstDash val="solid"/>
          </a:ln>
        </p:spPr>
      </p:sp>
      <p:pic>
        <p:nvPicPr>
          <p:cNvPr id="16" name="Image 1" descr="preencoded.png">    </p:cNvPr>
          <p:cNvPicPr>
            <a:picLocks noChangeAspect="1"/>
          </p:cNvPicPr>
          <p:nvPr/>
        </p:nvPicPr>
        <p:blipFill>
          <a:blip r:embed="rId2"/>
          <a:stretch>
            <a:fillRect/>
          </a:stretch>
        </p:blipFill>
        <p:spPr>
          <a:xfrm>
            <a:off x="5440680" y="1207008"/>
            <a:ext cx="411480" cy="411480"/>
          </a:xfrm>
          <a:prstGeom prst="rect">
            <a:avLst/>
          </a:prstGeom>
        </p:spPr>
      </p:pic>
      <p:sp>
        <p:nvSpPr>
          <p:cNvPr id="17" name="Text 13"/>
          <p:cNvSpPr/>
          <p:nvPr/>
        </p:nvSpPr>
        <p:spPr>
          <a:xfrm>
            <a:off x="4709160" y="1783080"/>
            <a:ext cx="1920240"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 2</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RAG</a:t>
            </a:r>
            <a:endParaRPr lang="en-US" sz="1200" dirty="0"/>
          </a:p>
        </p:txBody>
      </p:sp>
      <p:sp>
        <p:nvSpPr>
          <p:cNvPr id="18" name="Text 14"/>
          <p:cNvSpPr/>
          <p:nvPr/>
        </p:nvSpPr>
        <p:spPr>
          <a:xfrm>
            <a:off x="4754880" y="2331720"/>
            <a:ext cx="1828800" cy="2103120"/>
          </a:xfrm>
          <a:prstGeom prst="rect">
            <a:avLst/>
          </a:prstGeom>
          <a:noFill/>
          <a:ln/>
        </p:spPr>
        <p:txBody>
          <a:bodyPr wrap="square" rtlCol="0" anchor="ctr"/>
          <a:lstStyle/>
          <a:p>
            <a:pPr algn="ctr" indent="0" marL="0">
              <a:buNone/>
            </a:pPr>
            <a:r>
              <a:rPr lang="en-US" sz="950" dirty="0">
                <a:solidFill>
                  <a:srgbClr val="7EA8C8"/>
                </a:solidFill>
                <a:latin typeface="Calibri" pitchFamily="34" charset="0"/>
                <a:ea typeface="Calibri" pitchFamily="34" charset="-122"/>
                <a:cs typeface="Calibri" pitchFamily="34" charset="-120"/>
              </a:rPr>
              <a:t>Builds semantic</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query from claim</a:t>
            </a:r>
            <a:endParaRPr lang="en-US" sz="950" dirty="0"/>
          </a:p>
          <a:p>
            <a:pPr algn="ctr" indent="0" marL="0">
              <a:buNone/>
            </a:pP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FAISS retrieves</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top-2 policy docs</a:t>
            </a:r>
            <a:endParaRPr lang="en-US" sz="950" dirty="0"/>
          </a:p>
          <a:p>
            <a:pPr algn="ctr" indent="0" marL="0">
              <a:buNone/>
            </a:pP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Outputs: titles,</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content, relevance</a:t>
            </a:r>
            <a:endParaRPr lang="en-US" sz="950" dirty="0"/>
          </a:p>
        </p:txBody>
      </p:sp>
      <p:sp>
        <p:nvSpPr>
          <p:cNvPr id="19" name="Text 15"/>
          <p:cNvSpPr/>
          <p:nvPr/>
        </p:nvSpPr>
        <p:spPr>
          <a:xfrm>
            <a:off x="6656832" y="2468880"/>
            <a:ext cx="365760" cy="365760"/>
          </a:xfrm>
          <a:prstGeom prst="rect">
            <a:avLst/>
          </a:prstGeom>
          <a:noFill/>
          <a:ln/>
        </p:spPr>
        <p:txBody>
          <a:bodyPr wrap="square" rtlCol="0" anchor="ctr"/>
          <a:lstStyle/>
          <a:p>
            <a:pPr algn="ctr" indent="0" marL="0">
              <a:buNone/>
            </a:pPr>
            <a:r>
              <a:rPr lang="en-US" sz="2200" dirty="0">
                <a:solidFill>
                  <a:srgbClr val="14B8A6"/>
                </a:solidFill>
                <a:latin typeface="Calibri" pitchFamily="34" charset="0"/>
                <a:ea typeface="Calibri" pitchFamily="34" charset="-122"/>
                <a:cs typeface="Calibri" pitchFamily="34" charset="-120"/>
              </a:rPr>
              <a:t>➡</a:t>
            </a:r>
            <a:endParaRPr lang="en-US" sz="2200" dirty="0"/>
          </a:p>
        </p:txBody>
      </p:sp>
      <p:sp>
        <p:nvSpPr>
          <p:cNvPr id="20" name="Shape 16"/>
          <p:cNvSpPr/>
          <p:nvPr/>
        </p:nvSpPr>
        <p:spPr>
          <a:xfrm>
            <a:off x="7040880" y="987552"/>
            <a:ext cx="1874520" cy="3566160"/>
          </a:xfrm>
          <a:prstGeom prst="roundRect">
            <a:avLst>
              <a:gd name="adj" fmla="val 4878"/>
            </a:avLst>
          </a:prstGeom>
          <a:solidFill>
            <a:srgbClr val="112033"/>
          </a:solidFill>
          <a:ln/>
          <a:effectLst>
            <a:outerShdw sx="100000" sy="100000" kx="0" ky="0" algn="bl" rotWithShape="0" blurRad="76200" dist="25400" dir="2700000">
              <a:srgbClr val="000000">
                <a:alpha val="13000"/>
              </a:srgbClr>
            </a:outerShdw>
          </a:effectLst>
        </p:spPr>
      </p:sp>
      <p:sp>
        <p:nvSpPr>
          <p:cNvPr id="21" name="Shape 17"/>
          <p:cNvSpPr/>
          <p:nvPr/>
        </p:nvSpPr>
        <p:spPr>
          <a:xfrm>
            <a:off x="7662672" y="1115568"/>
            <a:ext cx="594360" cy="594360"/>
          </a:xfrm>
          <a:prstGeom prst="ellipse">
            <a:avLst/>
          </a:prstGeom>
          <a:solidFill>
            <a:srgbClr val="F59E0B"/>
          </a:solidFill>
          <a:ln w="12700">
            <a:solidFill>
              <a:srgbClr val="F59E0B"/>
            </a:solidFill>
            <a:prstDash val="solid"/>
          </a:ln>
        </p:spPr>
      </p:sp>
      <p:pic>
        <p:nvPicPr>
          <p:cNvPr id="22" name="Image 2" descr="preencoded.png">    </p:cNvPr>
          <p:cNvPicPr>
            <a:picLocks noChangeAspect="1"/>
          </p:cNvPicPr>
          <p:nvPr/>
        </p:nvPicPr>
        <p:blipFill>
          <a:blip r:embed="rId3"/>
          <a:stretch>
            <a:fillRect/>
          </a:stretch>
        </p:blipFill>
        <p:spPr>
          <a:xfrm>
            <a:off x="7754112" y="1207008"/>
            <a:ext cx="411480" cy="411480"/>
          </a:xfrm>
          <a:prstGeom prst="rect">
            <a:avLst/>
          </a:prstGeom>
        </p:spPr>
      </p:pic>
      <p:sp>
        <p:nvSpPr>
          <p:cNvPr id="23" name="Text 18"/>
          <p:cNvSpPr/>
          <p:nvPr/>
        </p:nvSpPr>
        <p:spPr>
          <a:xfrm>
            <a:off x="7040880" y="1783080"/>
            <a:ext cx="1874520"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 3</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Summary</a:t>
            </a:r>
            <a:endParaRPr lang="en-US" sz="1200" dirty="0"/>
          </a:p>
        </p:txBody>
      </p:sp>
      <p:sp>
        <p:nvSpPr>
          <p:cNvPr id="24" name="Text 19"/>
          <p:cNvSpPr/>
          <p:nvPr/>
        </p:nvSpPr>
        <p:spPr>
          <a:xfrm>
            <a:off x="7086600" y="2331720"/>
            <a:ext cx="1783080" cy="2103120"/>
          </a:xfrm>
          <a:prstGeom prst="rect">
            <a:avLst/>
          </a:prstGeom>
          <a:noFill/>
          <a:ln/>
        </p:spPr>
        <p:txBody>
          <a:bodyPr wrap="square" rtlCol="0" anchor="ctr"/>
          <a:lstStyle/>
          <a:p>
            <a:pPr algn="ctr" indent="0" marL="0">
              <a:buNone/>
            </a:pPr>
            <a:r>
              <a:rPr lang="en-US" sz="950" dirty="0">
                <a:solidFill>
                  <a:srgbClr val="7EA8C8"/>
                </a:solidFill>
                <a:latin typeface="Calibri" pitchFamily="34" charset="0"/>
                <a:ea typeface="Calibri" pitchFamily="34" charset="-122"/>
                <a:cs typeface="Calibri" pitchFamily="34" charset="-120"/>
              </a:rPr>
              <a:t>Fills structured</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reviewer template</a:t>
            </a:r>
            <a:endParaRPr lang="en-US" sz="950" dirty="0"/>
          </a:p>
          <a:p>
            <a:pPr algn="ctr" indent="0" marL="0">
              <a:buNone/>
            </a:pP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Embeds SHAP</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features + policy</a:t>
            </a:r>
            <a:endParaRPr lang="en-US" sz="950" dirty="0"/>
          </a:p>
          <a:p>
            <a:pPr algn="ctr" indent="0" marL="0">
              <a:buNone/>
            </a:pP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Outputs: brief,</a:t>
            </a:r>
            <a:endParaRPr lang="en-US" sz="950" dirty="0"/>
          </a:p>
          <a:p>
            <a:pPr algn="ctr" indent="0" marL="0">
              <a:buNone/>
            </a:pPr>
            <a:r>
              <a:rPr lang="en-US" sz="950" dirty="0">
                <a:solidFill>
                  <a:srgbClr val="7EA8C8"/>
                </a:solidFill>
                <a:latin typeface="Calibri" pitchFamily="34" charset="0"/>
                <a:ea typeface="Calibri" pitchFamily="34" charset="-122"/>
                <a:cs typeface="Calibri" pitchFamily="34" charset="-120"/>
              </a:rPr>
              <a:t>citations, action</a:t>
            </a:r>
            <a:endParaRPr lang="en-US" sz="950" dirty="0"/>
          </a:p>
        </p:txBody>
      </p:sp>
      <p:sp>
        <p:nvSpPr>
          <p:cNvPr id="25" name="Text 20"/>
          <p:cNvSpPr/>
          <p:nvPr/>
        </p:nvSpPr>
        <p:spPr>
          <a:xfrm>
            <a:off x="457200" y="4754880"/>
            <a:ext cx="8229600" cy="274320"/>
          </a:xfrm>
          <a:prstGeom prst="rect">
            <a:avLst/>
          </a:prstGeom>
          <a:noFill/>
          <a:ln/>
        </p:spPr>
        <p:txBody>
          <a:bodyPr wrap="square" rtlCol="0" anchor="ctr"/>
          <a:lstStyle/>
          <a:p>
            <a:pPr algn="ctr" indent="0" marL="0">
              <a:buNone/>
            </a:pPr>
            <a:r>
              <a:rPr lang="en-US" sz="1100" i="1" dirty="0">
                <a:solidFill>
                  <a:srgbClr val="14B8A6"/>
                </a:solidFill>
                <a:latin typeface="Calibri" pitchFamily="34" charset="0"/>
                <a:ea typeface="Calibri" pitchFamily="34" charset="-122"/>
                <a:cs typeface="Calibri" pitchFamily="34" charset="-120"/>
              </a:rPr>
              <a:t>Agents 2 &amp; 3 only activate if Agent 1 flags the claim — normal claims exit after Agent 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Pipeline — Actual Run Results</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2,000 synthetic Medicare-style claims generated with seed=42</a:t>
            </a:r>
            <a:endParaRPr lang="en-US" sz="1200" dirty="0"/>
          </a:p>
        </p:txBody>
      </p:sp>
      <p:sp>
        <p:nvSpPr>
          <p:cNvPr id="5" name="Shape 3"/>
          <p:cNvSpPr/>
          <p:nvPr/>
        </p:nvSpPr>
        <p:spPr>
          <a:xfrm>
            <a:off x="256032" y="1097280"/>
            <a:ext cx="1993392" cy="3611880"/>
          </a:xfrm>
          <a:prstGeom prst="roundRect">
            <a:avLst>
              <a:gd name="adj" fmla="val 4587"/>
            </a:avLst>
          </a:prstGeom>
          <a:solidFill>
            <a:srgbClr val="F0F7FF"/>
          </a:solidFill>
          <a:ln/>
          <a:effectLst>
            <a:outerShdw sx="100000" sy="100000" kx="0" ky="0" algn="bl" rotWithShape="0" blurRad="76200" dist="25400" dir="2700000">
              <a:srgbClr val="000000">
                <a:alpha val="13000"/>
              </a:srgbClr>
            </a:outerShdw>
          </a:effectLst>
        </p:spPr>
      </p:sp>
      <p:sp>
        <p:nvSpPr>
          <p:cNvPr id="6" name="Shape 4"/>
          <p:cNvSpPr/>
          <p:nvPr/>
        </p:nvSpPr>
        <p:spPr>
          <a:xfrm>
            <a:off x="914400" y="1234440"/>
            <a:ext cx="658368" cy="658368"/>
          </a:xfrm>
          <a:prstGeom prst="ellipse">
            <a:avLst/>
          </a:prstGeom>
          <a:solidFill>
            <a:srgbClr val="1A4B7A"/>
          </a:solidFill>
          <a:ln w="12700">
            <a:solidFill>
              <a:srgbClr val="1A4B7A"/>
            </a:solidFill>
            <a:prstDash val="solid"/>
          </a:ln>
        </p:spPr>
      </p:sp>
      <p:pic>
        <p:nvPicPr>
          <p:cNvPr id="7" name="Image 0" descr="preencoded.png">    </p:cNvPr>
          <p:cNvPicPr>
            <a:picLocks noChangeAspect="1"/>
          </p:cNvPicPr>
          <p:nvPr/>
        </p:nvPicPr>
        <p:blipFill>
          <a:blip r:embed="rId1"/>
          <a:stretch>
            <a:fillRect/>
          </a:stretch>
        </p:blipFill>
        <p:spPr>
          <a:xfrm>
            <a:off x="1014984" y="1325880"/>
            <a:ext cx="457200" cy="457200"/>
          </a:xfrm>
          <a:prstGeom prst="rect">
            <a:avLst/>
          </a:prstGeom>
        </p:spPr>
      </p:pic>
      <p:sp>
        <p:nvSpPr>
          <p:cNvPr id="8" name="Text 5"/>
          <p:cNvSpPr/>
          <p:nvPr/>
        </p:nvSpPr>
        <p:spPr>
          <a:xfrm>
            <a:off x="256032" y="1984248"/>
            <a:ext cx="1993392" cy="502920"/>
          </a:xfrm>
          <a:prstGeom prst="rect">
            <a:avLst/>
          </a:prstGeom>
          <a:noFill/>
          <a:ln/>
        </p:spPr>
        <p:txBody>
          <a:bodyPr wrap="square" rtlCol="0" anchor="ctr"/>
          <a:lstStyle/>
          <a:p>
            <a:pPr algn="ctr" indent="0" marL="0">
              <a:buNone/>
            </a:pPr>
            <a:r>
              <a:rPr lang="en-US" sz="1200" b="1" dirty="0">
                <a:solidFill>
                  <a:srgbClr val="0D2137"/>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0D2137"/>
                </a:solidFill>
                <a:latin typeface="Calibri" pitchFamily="34" charset="0"/>
                <a:ea typeface="Calibri" pitchFamily="34" charset="-122"/>
                <a:cs typeface="Calibri" pitchFamily="34" charset="-120"/>
              </a:rPr>
              <a:t>Generated</a:t>
            </a:r>
            <a:endParaRPr lang="en-US" sz="1200" dirty="0"/>
          </a:p>
        </p:txBody>
      </p:sp>
      <p:sp>
        <p:nvSpPr>
          <p:cNvPr id="9" name="Text 6"/>
          <p:cNvSpPr/>
          <p:nvPr/>
        </p:nvSpPr>
        <p:spPr>
          <a:xfrm>
            <a:off x="347472" y="2560320"/>
            <a:ext cx="1810512" cy="20116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2,000 total claims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1,864 Normal</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136 Anomaly</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(6.8% anomaly rate)</a:t>
            </a:r>
            <a:endParaRPr lang="en-US" sz="1000" dirty="0"/>
          </a:p>
        </p:txBody>
      </p:sp>
      <p:sp>
        <p:nvSpPr>
          <p:cNvPr id="10" name="Text 7"/>
          <p:cNvSpPr/>
          <p:nvPr/>
        </p:nvSpPr>
        <p:spPr>
          <a:xfrm>
            <a:off x="2286000" y="2633472"/>
            <a:ext cx="274320" cy="320040"/>
          </a:xfrm>
          <a:prstGeom prst="rect">
            <a:avLst/>
          </a:prstGeom>
          <a:noFill/>
          <a:ln/>
        </p:spPr>
        <p:txBody>
          <a:bodyPr wrap="square" rtlCol="0" anchor="ctr"/>
          <a:lstStyle/>
          <a:p>
            <a:pPr algn="ctr" indent="0" marL="0">
              <a:buNone/>
            </a:pPr>
            <a:r>
              <a:rPr lang="en-US" sz="1800" dirty="0">
                <a:solidFill>
                  <a:srgbClr val="0D9488"/>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2359152" y="1097280"/>
            <a:ext cx="1993392" cy="3611880"/>
          </a:xfrm>
          <a:prstGeom prst="roundRect">
            <a:avLst>
              <a:gd name="adj" fmla="val 4587"/>
            </a:avLst>
          </a:prstGeom>
          <a:solidFill>
            <a:srgbClr val="F0F7FF"/>
          </a:solidFill>
          <a:ln/>
          <a:effectLst>
            <a:outerShdw sx="100000" sy="100000" kx="0" ky="0" algn="bl" rotWithShape="0" blurRad="76200" dist="25400" dir="2700000">
              <a:srgbClr val="000000">
                <a:alpha val="13000"/>
              </a:srgbClr>
            </a:outerShdw>
          </a:effectLst>
        </p:spPr>
      </p:sp>
      <p:sp>
        <p:nvSpPr>
          <p:cNvPr id="12" name="Shape 9"/>
          <p:cNvSpPr/>
          <p:nvPr/>
        </p:nvSpPr>
        <p:spPr>
          <a:xfrm>
            <a:off x="3017520" y="1234440"/>
            <a:ext cx="658368" cy="658368"/>
          </a:xfrm>
          <a:prstGeom prst="ellipse">
            <a:avLst/>
          </a:prstGeom>
          <a:solidFill>
            <a:srgbClr val="0D9488"/>
          </a:solidFill>
          <a:ln w="12700">
            <a:solidFill>
              <a:srgbClr val="0D9488"/>
            </a:solidFill>
            <a:prstDash val="solid"/>
          </a:ln>
        </p:spPr>
      </p:sp>
      <p:pic>
        <p:nvPicPr>
          <p:cNvPr id="13" name="Image 1" descr="preencoded.png">    </p:cNvPr>
          <p:cNvPicPr>
            <a:picLocks noChangeAspect="1"/>
          </p:cNvPicPr>
          <p:nvPr/>
        </p:nvPicPr>
        <p:blipFill>
          <a:blip r:embed="rId2"/>
          <a:stretch>
            <a:fillRect/>
          </a:stretch>
        </p:blipFill>
        <p:spPr>
          <a:xfrm>
            <a:off x="3118104" y="1325880"/>
            <a:ext cx="457200" cy="457200"/>
          </a:xfrm>
          <a:prstGeom prst="rect">
            <a:avLst/>
          </a:prstGeom>
        </p:spPr>
      </p:pic>
      <p:sp>
        <p:nvSpPr>
          <p:cNvPr id="14" name="Text 10"/>
          <p:cNvSpPr/>
          <p:nvPr/>
        </p:nvSpPr>
        <p:spPr>
          <a:xfrm>
            <a:off x="2359152" y="1984248"/>
            <a:ext cx="1993392" cy="502920"/>
          </a:xfrm>
          <a:prstGeom prst="rect">
            <a:avLst/>
          </a:prstGeom>
          <a:noFill/>
          <a:ln/>
        </p:spPr>
        <p:txBody>
          <a:bodyPr wrap="square" rtlCol="0" anchor="ctr"/>
          <a:lstStyle/>
          <a:p>
            <a:pPr algn="ctr" indent="0" marL="0">
              <a:buNone/>
            </a:pPr>
            <a:r>
              <a:rPr lang="en-US" sz="1200" b="1" dirty="0">
                <a:solidFill>
                  <a:srgbClr val="0D2137"/>
                </a:solidFill>
                <a:latin typeface="Calibri" pitchFamily="34" charset="0"/>
                <a:ea typeface="Calibri" pitchFamily="34" charset="-122"/>
                <a:cs typeface="Calibri" pitchFamily="34" charset="-120"/>
              </a:rPr>
              <a:t>Features</a:t>
            </a:r>
            <a:endParaRPr lang="en-US" sz="1200" dirty="0"/>
          </a:p>
          <a:p>
            <a:pPr algn="ctr" indent="0" marL="0">
              <a:buNone/>
            </a:pPr>
            <a:r>
              <a:rPr lang="en-US" sz="1200" b="1" dirty="0">
                <a:solidFill>
                  <a:srgbClr val="0D2137"/>
                </a:solidFill>
                <a:latin typeface="Calibri" pitchFamily="34" charset="0"/>
                <a:ea typeface="Calibri" pitchFamily="34" charset="-122"/>
                <a:cs typeface="Calibri" pitchFamily="34" charset="-120"/>
              </a:rPr>
              <a:t>Engineered</a:t>
            </a:r>
            <a:endParaRPr lang="en-US" sz="1200" dirty="0"/>
          </a:p>
        </p:txBody>
      </p:sp>
      <p:sp>
        <p:nvSpPr>
          <p:cNvPr id="15" name="Text 11"/>
          <p:cNvSpPr/>
          <p:nvPr/>
        </p:nvSpPr>
        <p:spPr>
          <a:xfrm>
            <a:off x="2450592" y="2560320"/>
            <a:ext cx="1810512" cy="20116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15 total features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including billed_to_</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allowed_ratio, freq</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and modifier flags</a:t>
            </a:r>
            <a:endParaRPr lang="en-US" sz="1000" dirty="0"/>
          </a:p>
        </p:txBody>
      </p:sp>
      <p:sp>
        <p:nvSpPr>
          <p:cNvPr id="16" name="Text 12"/>
          <p:cNvSpPr/>
          <p:nvPr/>
        </p:nvSpPr>
        <p:spPr>
          <a:xfrm>
            <a:off x="4389120" y="2633472"/>
            <a:ext cx="274320" cy="320040"/>
          </a:xfrm>
          <a:prstGeom prst="rect">
            <a:avLst/>
          </a:prstGeom>
          <a:noFill/>
          <a:ln/>
        </p:spPr>
        <p:txBody>
          <a:bodyPr wrap="square" rtlCol="0" anchor="ctr"/>
          <a:lstStyle/>
          <a:p>
            <a:pPr algn="ctr" indent="0" marL="0">
              <a:buNone/>
            </a:pPr>
            <a:r>
              <a:rPr lang="en-US" sz="1800" dirty="0">
                <a:solidFill>
                  <a:srgbClr val="0D9488"/>
                </a:solidFill>
                <a:latin typeface="Calibri" pitchFamily="34" charset="0"/>
                <a:ea typeface="Calibri" pitchFamily="34" charset="-122"/>
                <a:cs typeface="Calibri" pitchFamily="34" charset="-120"/>
              </a:rPr>
              <a:t>➡</a:t>
            </a:r>
            <a:endParaRPr lang="en-US" sz="1800" dirty="0"/>
          </a:p>
        </p:txBody>
      </p:sp>
      <p:sp>
        <p:nvSpPr>
          <p:cNvPr id="17" name="Shape 13"/>
          <p:cNvSpPr/>
          <p:nvPr/>
        </p:nvSpPr>
        <p:spPr>
          <a:xfrm>
            <a:off x="4462272" y="1097280"/>
            <a:ext cx="1993392" cy="3611880"/>
          </a:xfrm>
          <a:prstGeom prst="roundRect">
            <a:avLst>
              <a:gd name="adj" fmla="val 4587"/>
            </a:avLst>
          </a:prstGeom>
          <a:solidFill>
            <a:srgbClr val="F0F7FF"/>
          </a:solidFill>
          <a:ln/>
          <a:effectLst>
            <a:outerShdw sx="100000" sy="100000" kx="0" ky="0" algn="bl" rotWithShape="0" blurRad="76200" dist="25400" dir="2700000">
              <a:srgbClr val="000000">
                <a:alpha val="13000"/>
              </a:srgbClr>
            </a:outerShdw>
          </a:effectLst>
        </p:spPr>
      </p:sp>
      <p:sp>
        <p:nvSpPr>
          <p:cNvPr id="18" name="Shape 14"/>
          <p:cNvSpPr/>
          <p:nvPr/>
        </p:nvSpPr>
        <p:spPr>
          <a:xfrm>
            <a:off x="5120640" y="1234440"/>
            <a:ext cx="658368" cy="658368"/>
          </a:xfrm>
          <a:prstGeom prst="ellipse">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3"/>
          <a:stretch>
            <a:fillRect/>
          </a:stretch>
        </p:blipFill>
        <p:spPr>
          <a:xfrm>
            <a:off x="5221224" y="1325880"/>
            <a:ext cx="457200" cy="457200"/>
          </a:xfrm>
          <a:prstGeom prst="rect">
            <a:avLst/>
          </a:prstGeom>
        </p:spPr>
      </p:pic>
      <p:sp>
        <p:nvSpPr>
          <p:cNvPr id="20" name="Text 15"/>
          <p:cNvSpPr/>
          <p:nvPr/>
        </p:nvSpPr>
        <p:spPr>
          <a:xfrm>
            <a:off x="4462272" y="1984248"/>
            <a:ext cx="1993392" cy="502920"/>
          </a:xfrm>
          <a:prstGeom prst="rect">
            <a:avLst/>
          </a:prstGeom>
          <a:noFill/>
          <a:ln/>
        </p:spPr>
        <p:txBody>
          <a:bodyPr wrap="square" rtlCol="0" anchor="ctr"/>
          <a:lstStyle/>
          <a:p>
            <a:pPr algn="ctr" indent="0" marL="0">
              <a:buNone/>
            </a:pPr>
            <a:r>
              <a:rPr lang="en-US" sz="1200" b="1" dirty="0">
                <a:solidFill>
                  <a:srgbClr val="0D2137"/>
                </a:solidFill>
                <a:latin typeface="Calibri" pitchFamily="34" charset="0"/>
                <a:ea typeface="Calibri" pitchFamily="34" charset="-122"/>
                <a:cs typeface="Calibri" pitchFamily="34" charset="-120"/>
              </a:rPr>
              <a:t>Train/Test</a:t>
            </a:r>
            <a:endParaRPr lang="en-US" sz="1200" dirty="0"/>
          </a:p>
          <a:p>
            <a:pPr algn="ctr" indent="0" marL="0">
              <a:buNone/>
            </a:pPr>
            <a:r>
              <a:rPr lang="en-US" sz="1200" b="1" dirty="0">
                <a:solidFill>
                  <a:srgbClr val="0D2137"/>
                </a:solidFill>
                <a:latin typeface="Calibri" pitchFamily="34" charset="0"/>
                <a:ea typeface="Calibri" pitchFamily="34" charset="-122"/>
                <a:cs typeface="Calibri" pitchFamily="34" charset="-120"/>
              </a:rPr>
              <a:t>Split + SMOTE</a:t>
            </a:r>
            <a:endParaRPr lang="en-US" sz="1200" dirty="0"/>
          </a:p>
        </p:txBody>
      </p:sp>
      <p:sp>
        <p:nvSpPr>
          <p:cNvPr id="21" name="Text 16"/>
          <p:cNvSpPr/>
          <p:nvPr/>
        </p:nvSpPr>
        <p:spPr>
          <a:xfrm>
            <a:off x="4553712" y="2560320"/>
            <a:ext cx="1810512" cy="20116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Train: 1,600 | Test: 400</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Pre-SMOTE: 6.8% anomaly</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Post-SMOTE: 2,982 rows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at 50.0% anomaly</a:t>
            </a:r>
            <a:endParaRPr lang="en-US" sz="1000" dirty="0"/>
          </a:p>
        </p:txBody>
      </p:sp>
      <p:sp>
        <p:nvSpPr>
          <p:cNvPr id="22" name="Text 17"/>
          <p:cNvSpPr/>
          <p:nvPr/>
        </p:nvSpPr>
        <p:spPr>
          <a:xfrm>
            <a:off x="6492240" y="2633472"/>
            <a:ext cx="274320" cy="320040"/>
          </a:xfrm>
          <a:prstGeom prst="rect">
            <a:avLst/>
          </a:prstGeom>
          <a:noFill/>
          <a:ln/>
        </p:spPr>
        <p:txBody>
          <a:bodyPr wrap="square" rtlCol="0" anchor="ctr"/>
          <a:lstStyle/>
          <a:p>
            <a:pPr algn="ctr" indent="0" marL="0">
              <a:buNone/>
            </a:pPr>
            <a:r>
              <a:rPr lang="en-US" sz="1800" dirty="0">
                <a:solidFill>
                  <a:srgbClr val="0D9488"/>
                </a:solidFill>
                <a:latin typeface="Calibri" pitchFamily="34" charset="0"/>
                <a:ea typeface="Calibri" pitchFamily="34" charset="-122"/>
                <a:cs typeface="Calibri" pitchFamily="34" charset="-120"/>
              </a:rPr>
              <a:t>➡</a:t>
            </a:r>
            <a:endParaRPr lang="en-US" sz="1800" dirty="0"/>
          </a:p>
        </p:txBody>
      </p:sp>
      <p:sp>
        <p:nvSpPr>
          <p:cNvPr id="23" name="Shape 18"/>
          <p:cNvSpPr/>
          <p:nvPr/>
        </p:nvSpPr>
        <p:spPr>
          <a:xfrm>
            <a:off x="6565392" y="1097280"/>
            <a:ext cx="1993392" cy="3611880"/>
          </a:xfrm>
          <a:prstGeom prst="roundRect">
            <a:avLst>
              <a:gd name="adj" fmla="val 4587"/>
            </a:avLst>
          </a:prstGeom>
          <a:solidFill>
            <a:srgbClr val="F0F7FF"/>
          </a:solidFill>
          <a:ln/>
          <a:effectLst>
            <a:outerShdw sx="100000" sy="100000" kx="0" ky="0" algn="bl" rotWithShape="0" blurRad="76200" dist="25400" dir="2700000">
              <a:srgbClr val="000000">
                <a:alpha val="13000"/>
              </a:srgbClr>
            </a:outerShdw>
          </a:effectLst>
        </p:spPr>
      </p:sp>
      <p:sp>
        <p:nvSpPr>
          <p:cNvPr id="24" name="Shape 19"/>
          <p:cNvSpPr/>
          <p:nvPr/>
        </p:nvSpPr>
        <p:spPr>
          <a:xfrm>
            <a:off x="7223760" y="1234440"/>
            <a:ext cx="658368" cy="658368"/>
          </a:xfrm>
          <a:prstGeom prst="ellipse">
            <a:avLst/>
          </a:prstGeom>
          <a:solidFill>
            <a:srgbClr val="F59E0B"/>
          </a:solidFill>
          <a:ln w="12700">
            <a:solidFill>
              <a:srgbClr val="F59E0B"/>
            </a:solidFill>
            <a:prstDash val="solid"/>
          </a:ln>
        </p:spPr>
      </p:sp>
      <p:pic>
        <p:nvPicPr>
          <p:cNvPr id="25" name="Image 3" descr="preencoded.png">    </p:cNvPr>
          <p:cNvPicPr>
            <a:picLocks noChangeAspect="1"/>
          </p:cNvPicPr>
          <p:nvPr/>
        </p:nvPicPr>
        <p:blipFill>
          <a:blip r:embed="rId4"/>
          <a:stretch>
            <a:fillRect/>
          </a:stretch>
        </p:blipFill>
        <p:spPr>
          <a:xfrm>
            <a:off x="7324344" y="1325880"/>
            <a:ext cx="457200" cy="457200"/>
          </a:xfrm>
          <a:prstGeom prst="rect">
            <a:avLst/>
          </a:prstGeom>
        </p:spPr>
      </p:pic>
      <p:sp>
        <p:nvSpPr>
          <p:cNvPr id="26" name="Text 20"/>
          <p:cNvSpPr/>
          <p:nvPr/>
        </p:nvSpPr>
        <p:spPr>
          <a:xfrm>
            <a:off x="6565392" y="1984248"/>
            <a:ext cx="1993392" cy="502920"/>
          </a:xfrm>
          <a:prstGeom prst="rect">
            <a:avLst/>
          </a:prstGeom>
          <a:noFill/>
          <a:ln/>
        </p:spPr>
        <p:txBody>
          <a:bodyPr wrap="square" rtlCol="0" anchor="ctr"/>
          <a:lstStyle/>
          <a:p>
            <a:pPr algn="ctr" indent="0" marL="0">
              <a:buNone/>
            </a:pPr>
            <a:r>
              <a:rPr lang="en-US" sz="1200" b="1" dirty="0">
                <a:solidFill>
                  <a:srgbClr val="0D2137"/>
                </a:solidFill>
                <a:latin typeface="Calibri" pitchFamily="34" charset="0"/>
                <a:ea typeface="Calibri" pitchFamily="34" charset="-122"/>
                <a:cs typeface="Calibri" pitchFamily="34" charset="-120"/>
              </a:rPr>
              <a:t>XGBoost</a:t>
            </a:r>
            <a:endParaRPr lang="en-US" sz="1200" dirty="0"/>
          </a:p>
          <a:p>
            <a:pPr algn="ctr" indent="0" marL="0">
              <a:buNone/>
            </a:pPr>
            <a:r>
              <a:rPr lang="en-US" sz="1200" b="1" dirty="0">
                <a:solidFill>
                  <a:srgbClr val="0D2137"/>
                </a:solidFill>
                <a:latin typeface="Calibri" pitchFamily="34" charset="0"/>
                <a:ea typeface="Calibri" pitchFamily="34" charset="-122"/>
                <a:cs typeface="Calibri" pitchFamily="34" charset="-120"/>
              </a:rPr>
              <a:t>Trained</a:t>
            </a:r>
            <a:endParaRPr lang="en-US" sz="1200" dirty="0"/>
          </a:p>
        </p:txBody>
      </p:sp>
      <p:sp>
        <p:nvSpPr>
          <p:cNvPr id="27" name="Text 21"/>
          <p:cNvSpPr/>
          <p:nvPr/>
        </p:nvSpPr>
        <p:spPr>
          <a:xfrm>
            <a:off x="6656832" y="2560320"/>
            <a:ext cx="1810512" cy="201168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120 trees, depth 4</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Regularized for</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realistic generalization</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Model trained successfully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Agent 1 — Actual Model Performance</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XGBoost classifier on 400 held-out test claims (Cell 7 output)</a:t>
            </a:r>
            <a:endParaRPr lang="en-US" sz="1200" dirty="0"/>
          </a:p>
        </p:txBody>
      </p:sp>
      <p:sp>
        <p:nvSpPr>
          <p:cNvPr id="5" name="Shape 3"/>
          <p:cNvSpPr/>
          <p:nvPr/>
        </p:nvSpPr>
        <p:spPr>
          <a:xfrm>
            <a:off x="256032" y="1115568"/>
            <a:ext cx="4023360" cy="822960"/>
          </a:xfrm>
          <a:prstGeom prst="roundRect">
            <a:avLst>
              <a:gd name="adj" fmla="val 8889"/>
            </a:avLst>
          </a:prstGeom>
          <a:solidFill>
            <a:srgbClr val="F0F7FF"/>
          </a:solidFill>
          <a:ln/>
          <a:effectLst>
            <a:outerShdw sx="100000" sy="100000" kx="0" ky="0" algn="bl" rotWithShape="0" blurRad="76200" dist="25400" dir="2700000">
              <a:srgbClr val="000000">
                <a:alpha val="13000"/>
              </a:srgbClr>
            </a:outerShdw>
          </a:effectLst>
        </p:spPr>
      </p:sp>
      <p:sp>
        <p:nvSpPr>
          <p:cNvPr id="6" name="Text 4"/>
          <p:cNvSpPr/>
          <p:nvPr/>
        </p:nvSpPr>
        <p:spPr>
          <a:xfrm>
            <a:off x="347472" y="1188720"/>
            <a:ext cx="914400" cy="658368"/>
          </a:xfrm>
          <a:prstGeom prst="rect">
            <a:avLst/>
          </a:prstGeom>
          <a:noFill/>
          <a:ln/>
        </p:spPr>
        <p:txBody>
          <a:bodyPr wrap="square"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94%</a:t>
            </a:r>
            <a:endParaRPr lang="en-US" sz="2400" dirty="0"/>
          </a:p>
        </p:txBody>
      </p:sp>
      <p:sp>
        <p:nvSpPr>
          <p:cNvPr id="7" name="Text 5"/>
          <p:cNvSpPr/>
          <p:nvPr/>
        </p:nvSpPr>
        <p:spPr>
          <a:xfrm>
            <a:off x="1325880" y="1188720"/>
            <a:ext cx="2834640" cy="274320"/>
          </a:xfrm>
          <a:prstGeom prst="rect">
            <a:avLst/>
          </a:prstGeom>
          <a:noFill/>
          <a:ln/>
        </p:spPr>
        <p:txBody>
          <a:bodyPr wrap="square" rtlCol="0" anchor="ctr"/>
          <a:lstStyle/>
          <a:p>
            <a:pPr indent="0" marL="0">
              <a:buNone/>
            </a:pPr>
            <a:r>
              <a:rPr lang="en-US" sz="1200" b="1" dirty="0">
                <a:solidFill>
                  <a:srgbClr val="0D2137"/>
                </a:solidFill>
                <a:latin typeface="Calibri" pitchFamily="34" charset="0"/>
                <a:ea typeface="Calibri" pitchFamily="34" charset="-122"/>
                <a:cs typeface="Calibri" pitchFamily="34" charset="-120"/>
              </a:rPr>
              <a:t>Overall Accuracy</a:t>
            </a:r>
            <a:endParaRPr lang="en-US" sz="1200" dirty="0"/>
          </a:p>
        </p:txBody>
      </p:sp>
      <p:sp>
        <p:nvSpPr>
          <p:cNvPr id="8" name="Text 6"/>
          <p:cNvSpPr/>
          <p:nvPr/>
        </p:nvSpPr>
        <p:spPr>
          <a:xfrm>
            <a:off x="1325880" y="1499616"/>
            <a:ext cx="283464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373/400 normal + flagged correctly classified</a:t>
            </a:r>
            <a:endParaRPr lang="en-US" sz="950" dirty="0"/>
          </a:p>
        </p:txBody>
      </p:sp>
      <p:sp>
        <p:nvSpPr>
          <p:cNvPr id="9" name="Shape 7"/>
          <p:cNvSpPr/>
          <p:nvPr/>
        </p:nvSpPr>
        <p:spPr>
          <a:xfrm>
            <a:off x="256032" y="2084832"/>
            <a:ext cx="4023360" cy="822960"/>
          </a:xfrm>
          <a:prstGeom prst="roundRect">
            <a:avLst>
              <a:gd name="adj" fmla="val 8889"/>
            </a:avLst>
          </a:prstGeom>
          <a:solidFill>
            <a:srgbClr val="F0F7FF"/>
          </a:solidFill>
          <a:ln/>
          <a:effectLst>
            <a:outerShdw sx="100000" sy="100000" kx="0" ky="0" algn="bl" rotWithShape="0" blurRad="76200" dist="25400" dir="2700000">
              <a:srgbClr val="000000">
                <a:alpha val="13000"/>
              </a:srgbClr>
            </a:outerShdw>
          </a:effectLst>
        </p:spPr>
      </p:sp>
      <p:sp>
        <p:nvSpPr>
          <p:cNvPr id="10" name="Text 8"/>
          <p:cNvSpPr/>
          <p:nvPr/>
        </p:nvSpPr>
        <p:spPr>
          <a:xfrm>
            <a:off x="347472" y="2157984"/>
            <a:ext cx="914400" cy="658368"/>
          </a:xfrm>
          <a:prstGeom prst="rect">
            <a:avLst/>
          </a:prstGeom>
          <a:noFill/>
          <a:ln/>
        </p:spPr>
        <p:txBody>
          <a:bodyPr wrap="square"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0.972</a:t>
            </a:r>
            <a:endParaRPr lang="en-US" sz="2400" dirty="0"/>
          </a:p>
        </p:txBody>
      </p:sp>
      <p:sp>
        <p:nvSpPr>
          <p:cNvPr id="11" name="Text 9"/>
          <p:cNvSpPr/>
          <p:nvPr/>
        </p:nvSpPr>
        <p:spPr>
          <a:xfrm>
            <a:off x="1325880" y="2157984"/>
            <a:ext cx="2834640" cy="274320"/>
          </a:xfrm>
          <a:prstGeom prst="rect">
            <a:avLst/>
          </a:prstGeom>
          <a:noFill/>
          <a:ln/>
        </p:spPr>
        <p:txBody>
          <a:bodyPr wrap="square" rtlCol="0" anchor="ctr"/>
          <a:lstStyle/>
          <a:p>
            <a:pPr indent="0" marL="0">
              <a:buNone/>
            </a:pPr>
            <a:r>
              <a:rPr lang="en-US" sz="1200" b="1" dirty="0">
                <a:solidFill>
                  <a:srgbClr val="0D2137"/>
                </a:solidFill>
                <a:latin typeface="Calibri" pitchFamily="34" charset="0"/>
                <a:ea typeface="Calibri" pitchFamily="34" charset="-122"/>
                <a:cs typeface="Calibri" pitchFamily="34" charset="-120"/>
              </a:rPr>
              <a:t>ROC-AUC Score</a:t>
            </a:r>
            <a:endParaRPr lang="en-US" sz="1200" dirty="0"/>
          </a:p>
        </p:txBody>
      </p:sp>
      <p:sp>
        <p:nvSpPr>
          <p:cNvPr id="12" name="Text 10"/>
          <p:cNvSpPr/>
          <p:nvPr/>
        </p:nvSpPr>
        <p:spPr>
          <a:xfrm>
            <a:off x="1325880" y="2468880"/>
            <a:ext cx="283464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excellent ranking quality — near-perfect separation</a:t>
            </a:r>
            <a:endParaRPr lang="en-US" sz="950" dirty="0"/>
          </a:p>
        </p:txBody>
      </p:sp>
      <p:sp>
        <p:nvSpPr>
          <p:cNvPr id="13" name="Shape 11"/>
          <p:cNvSpPr/>
          <p:nvPr/>
        </p:nvSpPr>
        <p:spPr>
          <a:xfrm>
            <a:off x="256032" y="3054096"/>
            <a:ext cx="4023360" cy="822960"/>
          </a:xfrm>
          <a:prstGeom prst="roundRect">
            <a:avLst>
              <a:gd name="adj" fmla="val 8889"/>
            </a:avLst>
          </a:prstGeom>
          <a:solidFill>
            <a:srgbClr val="F0F7FF"/>
          </a:solidFill>
          <a:ln/>
          <a:effectLst>
            <a:outerShdw sx="100000" sy="100000" kx="0" ky="0" algn="bl" rotWithShape="0" blurRad="76200" dist="25400" dir="2700000">
              <a:srgbClr val="000000">
                <a:alpha val="13000"/>
              </a:srgbClr>
            </a:outerShdw>
          </a:effectLst>
        </p:spPr>
      </p:sp>
      <p:sp>
        <p:nvSpPr>
          <p:cNvPr id="14" name="Text 12"/>
          <p:cNvSpPr/>
          <p:nvPr/>
        </p:nvSpPr>
        <p:spPr>
          <a:xfrm>
            <a:off x="347472" y="3127248"/>
            <a:ext cx="914400" cy="658368"/>
          </a:xfrm>
          <a:prstGeom prst="rect">
            <a:avLst/>
          </a:prstGeom>
          <a:noFill/>
          <a:ln/>
        </p:spPr>
        <p:txBody>
          <a:bodyPr wrap="square"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89%</a:t>
            </a:r>
            <a:endParaRPr lang="en-US" sz="2400" dirty="0"/>
          </a:p>
        </p:txBody>
      </p:sp>
      <p:sp>
        <p:nvSpPr>
          <p:cNvPr id="15" name="Text 13"/>
          <p:cNvSpPr/>
          <p:nvPr/>
        </p:nvSpPr>
        <p:spPr>
          <a:xfrm>
            <a:off x="1325880" y="3127248"/>
            <a:ext cx="2834640" cy="274320"/>
          </a:xfrm>
          <a:prstGeom prst="rect">
            <a:avLst/>
          </a:prstGeom>
          <a:noFill/>
          <a:ln/>
        </p:spPr>
        <p:txBody>
          <a:bodyPr wrap="square" rtlCol="0" anchor="ctr"/>
          <a:lstStyle/>
          <a:p>
            <a:pPr indent="0" marL="0">
              <a:buNone/>
            </a:pPr>
            <a:r>
              <a:rPr lang="en-US" sz="1200" b="1" dirty="0">
                <a:solidFill>
                  <a:srgbClr val="0D2137"/>
                </a:solidFill>
                <a:latin typeface="Calibri" pitchFamily="34" charset="0"/>
                <a:ea typeface="Calibri" pitchFamily="34" charset="-122"/>
                <a:cs typeface="Calibri" pitchFamily="34" charset="-120"/>
              </a:rPr>
              <a:t>Anomaly Recall</a:t>
            </a:r>
            <a:endParaRPr lang="en-US" sz="1200" dirty="0"/>
          </a:p>
        </p:txBody>
      </p:sp>
      <p:sp>
        <p:nvSpPr>
          <p:cNvPr id="16" name="Text 14"/>
          <p:cNvSpPr/>
          <p:nvPr/>
        </p:nvSpPr>
        <p:spPr>
          <a:xfrm>
            <a:off x="1325880" y="3438144"/>
            <a:ext cx="283464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24 of 27 actual anomalies in test set caught</a:t>
            </a:r>
            <a:endParaRPr lang="en-US" sz="950" dirty="0"/>
          </a:p>
        </p:txBody>
      </p:sp>
      <p:sp>
        <p:nvSpPr>
          <p:cNvPr id="17" name="Shape 15"/>
          <p:cNvSpPr/>
          <p:nvPr/>
        </p:nvSpPr>
        <p:spPr>
          <a:xfrm>
            <a:off x="256032" y="4023360"/>
            <a:ext cx="4023360" cy="822960"/>
          </a:xfrm>
          <a:prstGeom prst="roundRect">
            <a:avLst>
              <a:gd name="adj" fmla="val 8889"/>
            </a:avLst>
          </a:prstGeom>
          <a:solidFill>
            <a:srgbClr val="F0F7FF"/>
          </a:solidFill>
          <a:ln/>
          <a:effectLst>
            <a:outerShdw sx="100000" sy="100000" kx="0" ky="0" algn="bl" rotWithShape="0" blurRad="76200" dist="25400" dir="2700000">
              <a:srgbClr val="000000">
                <a:alpha val="13000"/>
              </a:srgbClr>
            </a:outerShdw>
          </a:effectLst>
        </p:spPr>
      </p:sp>
      <p:sp>
        <p:nvSpPr>
          <p:cNvPr id="18" name="Text 16"/>
          <p:cNvSpPr/>
          <p:nvPr/>
        </p:nvSpPr>
        <p:spPr>
          <a:xfrm>
            <a:off x="347472" y="4096512"/>
            <a:ext cx="914400" cy="658368"/>
          </a:xfrm>
          <a:prstGeom prst="rect">
            <a:avLst/>
          </a:prstGeom>
          <a:noFill/>
          <a:ln/>
        </p:spPr>
        <p:txBody>
          <a:bodyPr wrap="square"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51%</a:t>
            </a:r>
            <a:endParaRPr lang="en-US" sz="2400" dirty="0"/>
          </a:p>
        </p:txBody>
      </p:sp>
      <p:sp>
        <p:nvSpPr>
          <p:cNvPr id="19" name="Text 17"/>
          <p:cNvSpPr/>
          <p:nvPr/>
        </p:nvSpPr>
        <p:spPr>
          <a:xfrm>
            <a:off x="1325880" y="4096512"/>
            <a:ext cx="2834640" cy="274320"/>
          </a:xfrm>
          <a:prstGeom prst="rect">
            <a:avLst/>
          </a:prstGeom>
          <a:noFill/>
          <a:ln/>
        </p:spPr>
        <p:txBody>
          <a:bodyPr wrap="square" rtlCol="0" anchor="ctr"/>
          <a:lstStyle/>
          <a:p>
            <a:pPr indent="0" marL="0">
              <a:buNone/>
            </a:pPr>
            <a:r>
              <a:rPr lang="en-US" sz="1200" b="1" dirty="0">
                <a:solidFill>
                  <a:srgbClr val="0D2137"/>
                </a:solidFill>
                <a:latin typeface="Calibri" pitchFamily="34" charset="0"/>
                <a:ea typeface="Calibri" pitchFamily="34" charset="-122"/>
                <a:cs typeface="Calibri" pitchFamily="34" charset="-120"/>
              </a:rPr>
              <a:t>Anomaly Precision</a:t>
            </a:r>
            <a:endParaRPr lang="en-US" sz="1200" dirty="0"/>
          </a:p>
        </p:txBody>
      </p:sp>
      <p:sp>
        <p:nvSpPr>
          <p:cNvPr id="20" name="Text 18"/>
          <p:cNvSpPr/>
          <p:nvPr/>
        </p:nvSpPr>
        <p:spPr>
          <a:xfrm>
            <a:off x="1325880" y="4407408"/>
            <a:ext cx="283464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about half of flags are true anomalies — expected on rare class</a:t>
            </a:r>
            <a:endParaRPr lang="en-US" sz="950" dirty="0"/>
          </a:p>
        </p:txBody>
      </p:sp>
      <p:graphicFrame>
        <p:nvGraphicFramePr>
          <p:cNvPr id="21" name="Chart 0" descr=""/>
          <p:cNvGraphicFramePr/>
          <p:nvPr/>
        </p:nvGraphicFramePr>
        <p:xfrm>
          <a:off x="4434840" y="1051560"/>
          <a:ext cx="4480560" cy="37947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256032" y="4754880"/>
            <a:ext cx="8595360"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Classification Report: Normal class 0.99 precision / 0.94 recall (n=373). Anomaly class 0.51 precision / 0.89 recall (n=27). Macro avg F1: 0.81.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82880"/>
            <a:ext cx="822960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SHAP Explainability — Every Flag is Auditable</a:t>
            </a:r>
            <a:endParaRPr lang="en-US" sz="2400" dirty="0"/>
          </a:p>
        </p:txBody>
      </p:sp>
      <p:sp>
        <p:nvSpPr>
          <p:cNvPr id="4" name="Text 2"/>
          <p:cNvSpPr/>
          <p:nvPr/>
        </p:nvSpPr>
        <p:spPr>
          <a:xfrm>
            <a:off x="457200" y="73152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SHapley Additive exPlanations: how much did each feature contribute to this specific prediction?</a:t>
            </a:r>
            <a:endParaRPr lang="en-US" sz="1200" dirty="0"/>
          </a:p>
        </p:txBody>
      </p:sp>
      <p:sp>
        <p:nvSpPr>
          <p:cNvPr id="5" name="Shape 3"/>
          <p:cNvSpPr/>
          <p:nvPr/>
        </p:nvSpPr>
        <p:spPr>
          <a:xfrm>
            <a:off x="256032" y="1097280"/>
            <a:ext cx="2788920" cy="1828800"/>
          </a:xfrm>
          <a:prstGeom prst="roundRect">
            <a:avLst>
              <a:gd name="adj" fmla="val 5000"/>
            </a:avLst>
          </a:prstGeom>
          <a:solidFill>
            <a:srgbClr val="112033"/>
          </a:solidFill>
          <a:ln/>
          <a:effectLst>
            <a:outerShdw sx="100000" sy="100000" kx="0" ky="0" algn="bl" rotWithShape="0" blurRad="76200" dist="25400" dir="2700000">
              <a:srgbClr val="000000">
                <a:alpha val="13000"/>
              </a:srgbClr>
            </a:outerShdw>
          </a:effectLst>
        </p:spPr>
      </p:sp>
      <p:sp>
        <p:nvSpPr>
          <p:cNvPr id="6" name="Shape 4"/>
          <p:cNvSpPr/>
          <p:nvPr/>
        </p:nvSpPr>
        <p:spPr>
          <a:xfrm>
            <a:off x="1280160" y="1207008"/>
            <a:ext cx="548640" cy="548640"/>
          </a:xfrm>
          <a:prstGeom prst="ellipse">
            <a:avLst/>
          </a:prstGeom>
          <a:solidFill>
            <a:srgbClr val="0D9488"/>
          </a:solidFill>
          <a:ln w="12700">
            <a:solidFill>
              <a:srgbClr val="0D9488"/>
            </a:solidFill>
            <a:prstDash val="solid"/>
          </a:ln>
        </p:spPr>
      </p:sp>
      <p:pic>
        <p:nvPicPr>
          <p:cNvPr id="7" name="Image 0" descr="preencoded.png">    </p:cNvPr>
          <p:cNvPicPr>
            <a:picLocks noChangeAspect="1"/>
          </p:cNvPicPr>
          <p:nvPr/>
        </p:nvPicPr>
        <p:blipFill>
          <a:blip r:embed="rId1"/>
          <a:stretch>
            <a:fillRect/>
          </a:stretch>
        </p:blipFill>
        <p:spPr>
          <a:xfrm>
            <a:off x="1371600" y="1298448"/>
            <a:ext cx="365760" cy="365760"/>
          </a:xfrm>
          <a:prstGeom prst="rect">
            <a:avLst/>
          </a:prstGeom>
        </p:spPr>
      </p:pic>
      <p:sp>
        <p:nvSpPr>
          <p:cNvPr id="8" name="Text 5"/>
          <p:cNvSpPr/>
          <p:nvPr/>
        </p:nvSpPr>
        <p:spPr>
          <a:xfrm>
            <a:off x="256032" y="1828800"/>
            <a:ext cx="2788920"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Bar Chart</a:t>
            </a:r>
            <a:endParaRPr lang="en-US" sz="1300" dirty="0"/>
          </a:p>
        </p:txBody>
      </p:sp>
      <p:sp>
        <p:nvSpPr>
          <p:cNvPr id="9" name="Text 6"/>
          <p:cNvSpPr/>
          <p:nvPr/>
        </p:nvSpPr>
        <p:spPr>
          <a:xfrm>
            <a:off x="365760" y="2157984"/>
            <a:ext cx="2569464" cy="713232"/>
          </a:xfrm>
          <a:prstGeom prst="rect">
            <a:avLst/>
          </a:prstGeom>
          <a:noFill/>
          <a:ln/>
        </p:spPr>
        <p:txBody>
          <a:bodyPr wrap="square" rtlCol="0" anchor="ctr"/>
          <a:lstStyle/>
          <a:p>
            <a:pPr indent="0" marL="0">
              <a:buNone/>
            </a:pPr>
            <a:r>
              <a:rPr lang="en-US" sz="1000" dirty="0">
                <a:solidFill>
                  <a:srgbClr val="7EA8C8"/>
                </a:solidFill>
                <a:latin typeface="Calibri" pitchFamily="34" charset="0"/>
                <a:ea typeface="Calibri" pitchFamily="34" charset="-122"/>
                <a:cs typeface="Calibri" pitchFamily="34" charset="-120"/>
              </a:rPr>
              <a:t>Mean |SHAP| per feature across all 400 test claims, computed in Cell 8.</a:t>
            </a:r>
            <a:endParaRPr lang="en-US" sz="1000" dirty="0"/>
          </a:p>
        </p:txBody>
      </p:sp>
      <p:sp>
        <p:nvSpPr>
          <p:cNvPr id="10" name="Shape 7"/>
          <p:cNvSpPr/>
          <p:nvPr/>
        </p:nvSpPr>
        <p:spPr>
          <a:xfrm>
            <a:off x="3136392" y="1097280"/>
            <a:ext cx="2788920" cy="1828800"/>
          </a:xfrm>
          <a:prstGeom prst="roundRect">
            <a:avLst>
              <a:gd name="adj" fmla="val 5000"/>
            </a:avLst>
          </a:prstGeom>
          <a:solidFill>
            <a:srgbClr val="112033"/>
          </a:solidFill>
          <a:ln/>
          <a:effectLst>
            <a:outerShdw sx="100000" sy="100000" kx="0" ky="0" algn="bl" rotWithShape="0" blurRad="76200" dist="25400" dir="2700000">
              <a:srgbClr val="000000">
                <a:alpha val="13000"/>
              </a:srgbClr>
            </a:outerShdw>
          </a:effectLst>
        </p:spPr>
      </p:sp>
      <p:sp>
        <p:nvSpPr>
          <p:cNvPr id="11" name="Shape 8"/>
          <p:cNvSpPr/>
          <p:nvPr/>
        </p:nvSpPr>
        <p:spPr>
          <a:xfrm>
            <a:off x="4160520" y="1207008"/>
            <a:ext cx="548640" cy="548640"/>
          </a:xfrm>
          <a:prstGeom prst="ellipse">
            <a:avLst/>
          </a:prstGeom>
          <a:solidFill>
            <a:srgbClr val="0D9488"/>
          </a:solidFill>
          <a:ln w="1270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4251960" y="1298448"/>
            <a:ext cx="365760" cy="365760"/>
          </a:xfrm>
          <a:prstGeom prst="rect">
            <a:avLst/>
          </a:prstGeom>
        </p:spPr>
      </p:pic>
      <p:sp>
        <p:nvSpPr>
          <p:cNvPr id="13" name="Text 9"/>
          <p:cNvSpPr/>
          <p:nvPr/>
        </p:nvSpPr>
        <p:spPr>
          <a:xfrm>
            <a:off x="3136392" y="1828800"/>
            <a:ext cx="2788920"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Beeswarm Plot</a:t>
            </a:r>
            <a:endParaRPr lang="en-US" sz="1300" dirty="0"/>
          </a:p>
        </p:txBody>
      </p:sp>
      <p:sp>
        <p:nvSpPr>
          <p:cNvPr id="14" name="Text 10"/>
          <p:cNvSpPr/>
          <p:nvPr/>
        </p:nvSpPr>
        <p:spPr>
          <a:xfrm>
            <a:off x="3246120" y="2157984"/>
            <a:ext cx="2569464" cy="713232"/>
          </a:xfrm>
          <a:prstGeom prst="rect">
            <a:avLst/>
          </a:prstGeom>
          <a:noFill/>
          <a:ln/>
        </p:spPr>
        <p:txBody>
          <a:bodyPr wrap="square" rtlCol="0" anchor="ctr"/>
          <a:lstStyle/>
          <a:p>
            <a:pPr indent="0" marL="0">
              <a:buNone/>
            </a:pPr>
            <a:r>
              <a:rPr lang="en-US" sz="1000" dirty="0">
                <a:solidFill>
                  <a:srgbClr val="7EA8C8"/>
                </a:solidFill>
                <a:latin typeface="Calibri" pitchFamily="34" charset="0"/>
                <a:ea typeface="Calibri" pitchFamily="34" charset="-122"/>
                <a:cs typeface="Calibri" pitchFamily="34" charset="-120"/>
              </a:rPr>
              <a:t>Red dots = high value, Blue = low. Right = raises anomaly risk, Left = lowers it.</a:t>
            </a:r>
            <a:endParaRPr lang="en-US" sz="1000" dirty="0"/>
          </a:p>
        </p:txBody>
      </p:sp>
      <p:sp>
        <p:nvSpPr>
          <p:cNvPr id="15" name="Shape 11"/>
          <p:cNvSpPr/>
          <p:nvPr/>
        </p:nvSpPr>
        <p:spPr>
          <a:xfrm>
            <a:off x="6016752" y="1097280"/>
            <a:ext cx="2788920" cy="1828800"/>
          </a:xfrm>
          <a:prstGeom prst="roundRect">
            <a:avLst>
              <a:gd name="adj" fmla="val 5000"/>
            </a:avLst>
          </a:prstGeom>
          <a:solidFill>
            <a:srgbClr val="112033"/>
          </a:solidFill>
          <a:ln/>
          <a:effectLst>
            <a:outerShdw sx="100000" sy="100000" kx="0" ky="0" algn="bl" rotWithShape="0" blurRad="76200" dist="25400" dir="2700000">
              <a:srgbClr val="000000">
                <a:alpha val="13000"/>
              </a:srgbClr>
            </a:outerShdw>
          </a:effectLst>
        </p:spPr>
      </p:sp>
      <p:sp>
        <p:nvSpPr>
          <p:cNvPr id="16" name="Shape 12"/>
          <p:cNvSpPr/>
          <p:nvPr/>
        </p:nvSpPr>
        <p:spPr>
          <a:xfrm>
            <a:off x="7040880" y="1207008"/>
            <a:ext cx="548640" cy="548640"/>
          </a:xfrm>
          <a:prstGeom prst="ellipse">
            <a:avLst/>
          </a:prstGeom>
          <a:solidFill>
            <a:srgbClr val="0D9488"/>
          </a:solidFill>
          <a:ln w="12700">
            <a:solidFill>
              <a:srgbClr val="0D9488"/>
            </a:solidFill>
            <a:prstDash val="solid"/>
          </a:ln>
        </p:spPr>
      </p:sp>
      <p:pic>
        <p:nvPicPr>
          <p:cNvPr id="17" name="Image 2" descr="preencoded.png">    </p:cNvPr>
          <p:cNvPicPr>
            <a:picLocks noChangeAspect="1"/>
          </p:cNvPicPr>
          <p:nvPr/>
        </p:nvPicPr>
        <p:blipFill>
          <a:blip r:embed="rId3"/>
          <a:stretch>
            <a:fillRect/>
          </a:stretch>
        </p:blipFill>
        <p:spPr>
          <a:xfrm>
            <a:off x="7132320" y="1298448"/>
            <a:ext cx="365760" cy="365760"/>
          </a:xfrm>
          <a:prstGeom prst="rect">
            <a:avLst/>
          </a:prstGeom>
        </p:spPr>
      </p:pic>
      <p:sp>
        <p:nvSpPr>
          <p:cNvPr id="18" name="Text 13"/>
          <p:cNvSpPr/>
          <p:nvPr/>
        </p:nvSpPr>
        <p:spPr>
          <a:xfrm>
            <a:off x="6016752" y="1828800"/>
            <a:ext cx="2788920"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Waterfall Chart</a:t>
            </a:r>
            <a:endParaRPr lang="en-US" sz="1300" dirty="0"/>
          </a:p>
        </p:txBody>
      </p:sp>
      <p:sp>
        <p:nvSpPr>
          <p:cNvPr id="19" name="Text 14"/>
          <p:cNvSpPr/>
          <p:nvPr/>
        </p:nvSpPr>
        <p:spPr>
          <a:xfrm>
            <a:off x="6126480" y="2157984"/>
            <a:ext cx="2569464" cy="713232"/>
          </a:xfrm>
          <a:prstGeom prst="rect">
            <a:avLst/>
          </a:prstGeom>
          <a:noFill/>
          <a:ln/>
        </p:spPr>
        <p:txBody>
          <a:bodyPr wrap="square" rtlCol="0" anchor="ctr"/>
          <a:lstStyle/>
          <a:p>
            <a:pPr indent="0" marL="0">
              <a:buNone/>
            </a:pPr>
            <a:r>
              <a:rPr lang="en-US" sz="1000" dirty="0">
                <a:solidFill>
                  <a:srgbClr val="7EA8C8"/>
                </a:solidFill>
                <a:latin typeface="Calibri" pitchFamily="34" charset="0"/>
                <a:ea typeface="Calibri" pitchFamily="34" charset="-122"/>
                <a:cs typeface="Calibri" pitchFamily="34" charset="-120"/>
              </a:rPr>
              <a:t>For the DME claim: shows exactly how each feature pushed the score to 0.9683.</a:t>
            </a:r>
            <a:endParaRPr lang="en-US" sz="1000" dirty="0"/>
          </a:p>
        </p:txBody>
      </p:sp>
      <p:sp>
        <p:nvSpPr>
          <p:cNvPr id="20" name="Shape 15"/>
          <p:cNvSpPr/>
          <p:nvPr/>
        </p:nvSpPr>
        <p:spPr>
          <a:xfrm>
            <a:off x="256032" y="3127248"/>
            <a:ext cx="8631936" cy="1783080"/>
          </a:xfrm>
          <a:prstGeom prst="roundRect">
            <a:avLst>
              <a:gd name="adj" fmla="val 5128"/>
            </a:avLst>
          </a:prstGeom>
          <a:solidFill>
            <a:srgbClr val="1C3A52"/>
          </a:solidFill>
          <a:ln/>
          <a:effectLst>
            <a:outerShdw sx="100000" sy="100000" kx="0" ky="0" algn="bl" rotWithShape="0" blurRad="76200" dist="25400" dir="2700000">
              <a:srgbClr val="000000">
                <a:alpha val="13000"/>
              </a:srgbClr>
            </a:outerShdw>
          </a:effectLst>
        </p:spPr>
      </p:sp>
      <p:sp>
        <p:nvSpPr>
          <p:cNvPr id="21" name="Text 16"/>
          <p:cNvSpPr/>
          <p:nvPr/>
        </p:nvSpPr>
        <p:spPr>
          <a:xfrm>
            <a:off x="411480" y="3218688"/>
            <a:ext cx="8229600" cy="27432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Actual SHAP values from the high-risk DME claim (Cell 11 output):</a:t>
            </a:r>
            <a:endParaRPr lang="en-US" sz="1200" dirty="0"/>
          </a:p>
        </p:txBody>
      </p:sp>
      <p:sp>
        <p:nvSpPr>
          <p:cNvPr id="22" name="Text 17"/>
          <p:cNvSpPr/>
          <p:nvPr/>
        </p:nvSpPr>
        <p:spPr>
          <a:xfrm>
            <a:off x="411480" y="3529584"/>
            <a:ext cx="8229600" cy="365760"/>
          </a:xfrm>
          <a:prstGeom prst="rect">
            <a:avLst/>
          </a:prstGeom>
          <a:noFill/>
          <a:ln/>
        </p:spPr>
        <p:txBody>
          <a:bodyPr wrap="square" rtlCol="0" anchor="ctr"/>
          <a:lstStyle/>
          <a:p>
            <a:pPr indent="0" marL="0">
              <a:buNone/>
            </a:pPr>
            <a:r>
              <a:rPr lang="en-US" sz="1100" dirty="0">
                <a:solidFill>
                  <a:srgbClr val="AABFD6"/>
                </a:solidFill>
                <a:latin typeface="Calibri" pitchFamily="34" charset="0"/>
                <a:ea typeface="Calibri" pitchFamily="34" charset="-122"/>
                <a:cs typeface="Calibri" pitchFamily="34" charset="-120"/>
              </a:rPr>
              <a:t>1.  billed_to_allowed_ratio = 23.32  →  raises risk  (SHAP: +5.0552)  — by far the dominant driver</a:t>
            </a:r>
            <a:endParaRPr lang="en-US" sz="1100" dirty="0"/>
          </a:p>
        </p:txBody>
      </p:sp>
      <p:sp>
        <p:nvSpPr>
          <p:cNvPr id="23" name="Text 18"/>
          <p:cNvSpPr/>
          <p:nvPr/>
        </p:nvSpPr>
        <p:spPr>
          <a:xfrm>
            <a:off x="411480" y="3941064"/>
            <a:ext cx="8229600" cy="365760"/>
          </a:xfrm>
          <a:prstGeom prst="rect">
            <a:avLst/>
          </a:prstGeom>
          <a:noFill/>
          <a:ln/>
        </p:spPr>
        <p:txBody>
          <a:bodyPr wrap="square" rtlCol="0" anchor="ctr"/>
          <a:lstStyle/>
          <a:p>
            <a:pPr indent="0" marL="0">
              <a:buNone/>
            </a:pPr>
            <a:r>
              <a:rPr lang="en-US" sz="1100" dirty="0">
                <a:solidFill>
                  <a:srgbClr val="AABFD6"/>
                </a:solidFill>
                <a:latin typeface="Calibri" pitchFamily="34" charset="0"/>
                <a:ea typeface="Calibri" pitchFamily="34" charset="-122"/>
                <a:cs typeface="Calibri" pitchFamily="34" charset="-120"/>
              </a:rPr>
              <a:t>2.  billed_amount = $42,000  →  raises risk  (SHAP: +0.6881)</a:t>
            </a:r>
            <a:endParaRPr lang="en-US" sz="1100" dirty="0"/>
          </a:p>
        </p:txBody>
      </p:sp>
      <p:sp>
        <p:nvSpPr>
          <p:cNvPr id="24" name="Text 19"/>
          <p:cNvSpPr/>
          <p:nvPr/>
        </p:nvSpPr>
        <p:spPr>
          <a:xfrm>
            <a:off x="411480" y="4352544"/>
            <a:ext cx="8229600" cy="365760"/>
          </a:xfrm>
          <a:prstGeom prst="rect">
            <a:avLst/>
          </a:prstGeom>
          <a:noFill/>
          <a:ln/>
        </p:spPr>
        <p:txBody>
          <a:bodyPr wrap="square" rtlCol="0" anchor="ctr"/>
          <a:lstStyle/>
          <a:p>
            <a:pPr indent="0" marL="0">
              <a:buNone/>
            </a:pPr>
            <a:r>
              <a:rPr lang="en-US" sz="1100" dirty="0">
                <a:solidFill>
                  <a:srgbClr val="AABFD6"/>
                </a:solidFill>
                <a:latin typeface="Calibri" pitchFamily="34" charset="0"/>
                <a:ea typeface="Calibri" pitchFamily="34" charset="-122"/>
                <a:cs typeface="Calibri" pitchFamily="34" charset="-120"/>
              </a:rPr>
              <a:t>3.  modifier_count = 4  →  lowers risk  (SHAP: −0.5813)  — model finds this less suspicious alone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Agent 2 — Actual RAG Retrieval Output</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FAISS semantic search results for the flagged DME/Orthopedic claim (Cell 11)</a:t>
            </a:r>
            <a:endParaRPr lang="en-US" sz="1200" dirty="0"/>
          </a:p>
        </p:txBody>
      </p:sp>
      <p:sp>
        <p:nvSpPr>
          <p:cNvPr id="5" name="Shape 3"/>
          <p:cNvSpPr/>
          <p:nvPr/>
        </p:nvSpPr>
        <p:spPr>
          <a:xfrm>
            <a:off x="256032" y="1078992"/>
            <a:ext cx="2926080" cy="3657600"/>
          </a:xfrm>
          <a:prstGeom prst="roundRect">
            <a:avLst>
              <a:gd name="adj" fmla="val 3125"/>
            </a:avLst>
          </a:prstGeom>
          <a:solidFill>
            <a:srgbClr val="F0F7FF"/>
          </a:solidFill>
          <a:ln/>
          <a:effectLst>
            <a:outerShdw sx="100000" sy="100000" kx="0" ky="0" algn="bl" rotWithShape="0" blurRad="76200" dist="25400" dir="2700000">
              <a:srgbClr val="000000">
                <a:alpha val="13000"/>
              </a:srgbClr>
            </a:outerShdw>
          </a:effectLst>
        </p:spPr>
      </p:sp>
      <p:sp>
        <p:nvSpPr>
          <p:cNvPr id="6" name="Text 4"/>
          <p:cNvSpPr/>
          <p:nvPr/>
        </p:nvSpPr>
        <p:spPr>
          <a:xfrm>
            <a:off x="347472" y="1170432"/>
            <a:ext cx="2743200" cy="320040"/>
          </a:xfrm>
          <a:prstGeom prst="rect">
            <a:avLst/>
          </a:prstGeom>
          <a:noFill/>
          <a:ln/>
        </p:spPr>
        <p:txBody>
          <a:bodyPr wrap="square" rtlCol="0" anchor="ctr"/>
          <a:lstStyle/>
          <a:p>
            <a:pPr indent="0" marL="0">
              <a:buNone/>
            </a:pPr>
            <a:r>
              <a:rPr lang="en-US" sz="1200" b="1" dirty="0">
                <a:solidFill>
                  <a:srgbClr val="0D2137"/>
                </a:solidFill>
                <a:latin typeface="Calibri" pitchFamily="34" charset="0"/>
                <a:ea typeface="Calibri" pitchFamily="34" charset="-122"/>
                <a:cs typeface="Calibri" pitchFamily="34" charset="-120"/>
              </a:rPr>
              <a:t>FLAGGED CLAIM</a:t>
            </a:r>
            <a:endParaRPr lang="en-US" sz="1200" dirty="0"/>
          </a:p>
        </p:txBody>
      </p:sp>
      <p:sp>
        <p:nvSpPr>
          <p:cNvPr id="7" name="Shape 5"/>
          <p:cNvSpPr/>
          <p:nvPr/>
        </p:nvSpPr>
        <p:spPr>
          <a:xfrm>
            <a:off x="347472" y="1508760"/>
            <a:ext cx="2724912" cy="0"/>
          </a:xfrm>
          <a:prstGeom prst="line">
            <a:avLst/>
          </a:prstGeom>
          <a:noFill/>
          <a:ln w="12700">
            <a:solidFill>
              <a:srgbClr val="0D9488"/>
            </a:solidFill>
            <a:prstDash val="solid"/>
          </a:ln>
        </p:spPr>
      </p:sp>
      <p:sp>
        <p:nvSpPr>
          <p:cNvPr id="8" name="Text 6"/>
          <p:cNvSpPr/>
          <p:nvPr/>
        </p:nvSpPr>
        <p:spPr>
          <a:xfrm>
            <a:off x="347472" y="1572768"/>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Provider:</a:t>
            </a:r>
            <a:endParaRPr lang="en-US" sz="1050" dirty="0"/>
          </a:p>
        </p:txBody>
      </p:sp>
      <p:sp>
        <p:nvSpPr>
          <p:cNvPr id="9" name="Text 7"/>
          <p:cNvSpPr/>
          <p:nvPr/>
        </p:nvSpPr>
        <p:spPr>
          <a:xfrm>
            <a:off x="1664208" y="1572768"/>
            <a:ext cx="1371600" cy="274320"/>
          </a:xfrm>
          <a:prstGeom prst="rect">
            <a:avLst/>
          </a:prstGeom>
          <a:noFill/>
          <a:ln/>
        </p:spPr>
        <p:txBody>
          <a:bodyPr wrap="square" rtlCol="0" anchor="ctr"/>
          <a:lstStyle/>
          <a:p>
            <a:pPr indent="0" marL="0">
              <a:buNone/>
            </a:pPr>
            <a:r>
              <a:rPr lang="en-US" sz="1050" dirty="0">
                <a:solidFill>
                  <a:srgbClr val="0D2137"/>
                </a:solidFill>
                <a:latin typeface="Calibri" pitchFamily="34" charset="0"/>
                <a:ea typeface="Calibri" pitchFamily="34" charset="-122"/>
                <a:cs typeface="Calibri" pitchFamily="34" charset="-120"/>
              </a:rPr>
              <a:t>DME</a:t>
            </a:r>
            <a:endParaRPr lang="en-US" sz="1050" dirty="0"/>
          </a:p>
        </p:txBody>
      </p:sp>
      <p:sp>
        <p:nvSpPr>
          <p:cNvPr id="10" name="Text 8"/>
          <p:cNvSpPr/>
          <p:nvPr/>
        </p:nvSpPr>
        <p:spPr>
          <a:xfrm>
            <a:off x="347472" y="1920240"/>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Diagnosis:</a:t>
            </a:r>
            <a:endParaRPr lang="en-US" sz="1050" dirty="0"/>
          </a:p>
        </p:txBody>
      </p:sp>
      <p:sp>
        <p:nvSpPr>
          <p:cNvPr id="11" name="Text 9"/>
          <p:cNvSpPr/>
          <p:nvPr/>
        </p:nvSpPr>
        <p:spPr>
          <a:xfrm>
            <a:off x="1664208" y="1920240"/>
            <a:ext cx="1371600" cy="274320"/>
          </a:xfrm>
          <a:prstGeom prst="rect">
            <a:avLst/>
          </a:prstGeom>
          <a:noFill/>
          <a:ln/>
        </p:spPr>
        <p:txBody>
          <a:bodyPr wrap="square" rtlCol="0" anchor="ctr"/>
          <a:lstStyle/>
          <a:p>
            <a:pPr indent="0" marL="0">
              <a:buNone/>
            </a:pPr>
            <a:r>
              <a:rPr lang="en-US" sz="1050" dirty="0">
                <a:solidFill>
                  <a:srgbClr val="0D2137"/>
                </a:solidFill>
                <a:latin typeface="Calibri" pitchFamily="34" charset="0"/>
                <a:ea typeface="Calibri" pitchFamily="34" charset="-122"/>
                <a:cs typeface="Calibri" pitchFamily="34" charset="-120"/>
              </a:rPr>
              <a:t>Orthopedic</a:t>
            </a:r>
            <a:endParaRPr lang="en-US" sz="1050" dirty="0"/>
          </a:p>
        </p:txBody>
      </p:sp>
      <p:sp>
        <p:nvSpPr>
          <p:cNvPr id="12" name="Text 10"/>
          <p:cNvSpPr/>
          <p:nvPr/>
        </p:nvSpPr>
        <p:spPr>
          <a:xfrm>
            <a:off x="347472" y="2267712"/>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Billed:</a:t>
            </a:r>
            <a:endParaRPr lang="en-US" sz="1050" dirty="0"/>
          </a:p>
        </p:txBody>
      </p:sp>
      <p:sp>
        <p:nvSpPr>
          <p:cNvPr id="13" name="Text 11"/>
          <p:cNvSpPr/>
          <p:nvPr/>
        </p:nvSpPr>
        <p:spPr>
          <a:xfrm>
            <a:off x="1664208" y="2267712"/>
            <a:ext cx="1371600" cy="274320"/>
          </a:xfrm>
          <a:prstGeom prst="rect">
            <a:avLst/>
          </a:prstGeom>
          <a:noFill/>
          <a:ln/>
        </p:spPr>
        <p:txBody>
          <a:bodyPr wrap="square" rtlCol="0" anchor="ctr"/>
          <a:lstStyle/>
          <a:p>
            <a:pPr indent="0" marL="0">
              <a:buNone/>
            </a:pPr>
            <a:r>
              <a:rPr lang="en-US" sz="1050" dirty="0">
                <a:solidFill>
                  <a:srgbClr val="0D2137"/>
                </a:solidFill>
                <a:latin typeface="Calibri" pitchFamily="34" charset="0"/>
                <a:ea typeface="Calibri" pitchFamily="34" charset="-122"/>
                <a:cs typeface="Calibri" pitchFamily="34" charset="-120"/>
              </a:rPr>
              <a:t>$42,000</a:t>
            </a:r>
            <a:endParaRPr lang="en-US" sz="1050" dirty="0"/>
          </a:p>
        </p:txBody>
      </p:sp>
      <p:sp>
        <p:nvSpPr>
          <p:cNvPr id="14" name="Text 12"/>
          <p:cNvSpPr/>
          <p:nvPr/>
        </p:nvSpPr>
        <p:spPr>
          <a:xfrm>
            <a:off x="347472" y="2615184"/>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Allowed:</a:t>
            </a:r>
            <a:endParaRPr lang="en-US" sz="1050" dirty="0"/>
          </a:p>
        </p:txBody>
      </p:sp>
      <p:sp>
        <p:nvSpPr>
          <p:cNvPr id="15" name="Text 13"/>
          <p:cNvSpPr/>
          <p:nvPr/>
        </p:nvSpPr>
        <p:spPr>
          <a:xfrm>
            <a:off x="1664208" y="2615184"/>
            <a:ext cx="1371600" cy="274320"/>
          </a:xfrm>
          <a:prstGeom prst="rect">
            <a:avLst/>
          </a:prstGeom>
          <a:noFill/>
          <a:ln/>
        </p:spPr>
        <p:txBody>
          <a:bodyPr wrap="square" rtlCol="0" anchor="ctr"/>
          <a:lstStyle/>
          <a:p>
            <a:pPr indent="0" marL="0">
              <a:buNone/>
            </a:pPr>
            <a:r>
              <a:rPr lang="en-US" sz="1050" dirty="0">
                <a:solidFill>
                  <a:srgbClr val="0D2137"/>
                </a:solidFill>
                <a:latin typeface="Calibri" pitchFamily="34" charset="0"/>
                <a:ea typeface="Calibri" pitchFamily="34" charset="-122"/>
                <a:cs typeface="Calibri" pitchFamily="34" charset="-120"/>
              </a:rPr>
              <a:t>$1,800</a:t>
            </a:r>
            <a:endParaRPr lang="en-US" sz="1050" dirty="0"/>
          </a:p>
        </p:txBody>
      </p:sp>
      <p:sp>
        <p:nvSpPr>
          <p:cNvPr id="16" name="Text 14"/>
          <p:cNvSpPr/>
          <p:nvPr/>
        </p:nvSpPr>
        <p:spPr>
          <a:xfrm>
            <a:off x="347472" y="2962656"/>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Procedures:</a:t>
            </a:r>
            <a:endParaRPr lang="en-US" sz="1050" dirty="0"/>
          </a:p>
        </p:txBody>
      </p:sp>
      <p:sp>
        <p:nvSpPr>
          <p:cNvPr id="17" name="Text 15"/>
          <p:cNvSpPr/>
          <p:nvPr/>
        </p:nvSpPr>
        <p:spPr>
          <a:xfrm>
            <a:off x="1664208" y="2962656"/>
            <a:ext cx="1371600" cy="274320"/>
          </a:xfrm>
          <a:prstGeom prst="rect">
            <a:avLst/>
          </a:prstGeom>
          <a:noFill/>
          <a:ln/>
        </p:spPr>
        <p:txBody>
          <a:bodyPr wrap="square" rtlCol="0" anchor="ctr"/>
          <a:lstStyle/>
          <a:p>
            <a:pPr indent="0" marL="0">
              <a:buNone/>
            </a:pPr>
            <a:r>
              <a:rPr lang="en-US" sz="1050" dirty="0">
                <a:solidFill>
                  <a:srgbClr val="0D2137"/>
                </a:solidFill>
                <a:latin typeface="Calibri" pitchFamily="34" charset="0"/>
                <a:ea typeface="Calibri" pitchFamily="34" charset="-122"/>
                <a:cs typeface="Calibri" pitchFamily="34" charset="-120"/>
              </a:rPr>
              <a:t>18</a:t>
            </a:r>
            <a:endParaRPr lang="en-US" sz="1050" dirty="0"/>
          </a:p>
        </p:txBody>
      </p:sp>
      <p:sp>
        <p:nvSpPr>
          <p:cNvPr id="18" name="Text 16"/>
          <p:cNvSpPr/>
          <p:nvPr/>
        </p:nvSpPr>
        <p:spPr>
          <a:xfrm>
            <a:off x="347472" y="3310128"/>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Days Submit:</a:t>
            </a:r>
            <a:endParaRPr lang="en-US" sz="1050" dirty="0"/>
          </a:p>
        </p:txBody>
      </p:sp>
      <p:sp>
        <p:nvSpPr>
          <p:cNvPr id="19" name="Text 17"/>
          <p:cNvSpPr/>
          <p:nvPr/>
        </p:nvSpPr>
        <p:spPr>
          <a:xfrm>
            <a:off x="1664208" y="3310128"/>
            <a:ext cx="1371600" cy="274320"/>
          </a:xfrm>
          <a:prstGeom prst="rect">
            <a:avLst/>
          </a:prstGeom>
          <a:noFill/>
          <a:ln/>
        </p:spPr>
        <p:txBody>
          <a:bodyPr wrap="square" rtlCol="0" anchor="ctr"/>
          <a:lstStyle/>
          <a:p>
            <a:pPr indent="0" marL="0">
              <a:buNone/>
            </a:pPr>
            <a:r>
              <a:rPr lang="en-US" sz="1050" dirty="0">
                <a:solidFill>
                  <a:srgbClr val="0D2137"/>
                </a:solidFill>
                <a:latin typeface="Calibri" pitchFamily="34" charset="0"/>
                <a:ea typeface="Calibri" pitchFamily="34" charset="-122"/>
                <a:cs typeface="Calibri" pitchFamily="34" charset="-120"/>
              </a:rPr>
              <a:t>98</a:t>
            </a:r>
            <a:endParaRPr lang="en-US" sz="1050" dirty="0"/>
          </a:p>
        </p:txBody>
      </p:sp>
      <p:sp>
        <p:nvSpPr>
          <p:cNvPr id="20" name="Text 18"/>
          <p:cNvSpPr/>
          <p:nvPr/>
        </p:nvSpPr>
        <p:spPr>
          <a:xfrm>
            <a:off x="347472" y="3657600"/>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Anomaly Score:</a:t>
            </a:r>
            <a:endParaRPr lang="en-US" sz="1050" dirty="0"/>
          </a:p>
        </p:txBody>
      </p:sp>
      <p:sp>
        <p:nvSpPr>
          <p:cNvPr id="21" name="Text 19"/>
          <p:cNvSpPr/>
          <p:nvPr/>
        </p:nvSpPr>
        <p:spPr>
          <a:xfrm>
            <a:off x="1664208" y="3657600"/>
            <a:ext cx="1371600" cy="274320"/>
          </a:xfrm>
          <a:prstGeom prst="rect">
            <a:avLst/>
          </a:prstGeom>
          <a:noFill/>
          <a:ln/>
        </p:spPr>
        <p:txBody>
          <a:bodyPr wrap="square"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0.9683</a:t>
            </a:r>
            <a:endParaRPr lang="en-US" sz="1050" dirty="0"/>
          </a:p>
        </p:txBody>
      </p:sp>
      <p:sp>
        <p:nvSpPr>
          <p:cNvPr id="22" name="Text 20"/>
          <p:cNvSpPr/>
          <p:nvPr/>
        </p:nvSpPr>
        <p:spPr>
          <a:xfrm>
            <a:off x="347472" y="4005072"/>
            <a:ext cx="1280160" cy="274320"/>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Risk Level:</a:t>
            </a:r>
            <a:endParaRPr lang="en-US" sz="1050" dirty="0"/>
          </a:p>
        </p:txBody>
      </p:sp>
      <p:sp>
        <p:nvSpPr>
          <p:cNvPr id="23" name="Text 21"/>
          <p:cNvSpPr/>
          <p:nvPr/>
        </p:nvSpPr>
        <p:spPr>
          <a:xfrm>
            <a:off x="1664208" y="4005072"/>
            <a:ext cx="1371600" cy="274320"/>
          </a:xfrm>
          <a:prstGeom prst="rect">
            <a:avLst/>
          </a:prstGeom>
          <a:noFill/>
          <a:ln/>
        </p:spPr>
        <p:txBody>
          <a:bodyPr wrap="square"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HIGH</a:t>
            </a:r>
            <a:endParaRPr lang="en-US" sz="1050" dirty="0"/>
          </a:p>
        </p:txBody>
      </p:sp>
      <p:sp>
        <p:nvSpPr>
          <p:cNvPr id="24" name="Text 22"/>
          <p:cNvSpPr/>
          <p:nvPr/>
        </p:nvSpPr>
        <p:spPr>
          <a:xfrm>
            <a:off x="3246120" y="2377440"/>
            <a:ext cx="914400" cy="914400"/>
          </a:xfrm>
          <a:prstGeom prst="rect">
            <a:avLst/>
          </a:prstGeom>
          <a:noFill/>
          <a:ln/>
        </p:spPr>
        <p:txBody>
          <a:bodyPr wrap="square"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FAISS</a:t>
            </a:r>
            <a:endParaRPr lang="en-US" sz="1100" dirty="0"/>
          </a:p>
          <a:p>
            <a:pPr algn="ctr" indent="0" marL="0">
              <a:buNone/>
            </a:pPr>
            <a:r>
              <a:rPr lang="en-US" sz="1100" b="1" dirty="0">
                <a:solidFill>
                  <a:srgbClr val="0D9488"/>
                </a:solidFill>
                <a:latin typeface="Calibri" pitchFamily="34" charset="0"/>
                <a:ea typeface="Calibri" pitchFamily="34" charset="-122"/>
                <a:cs typeface="Calibri" pitchFamily="34" charset="-120"/>
              </a:rPr>
              <a:t>Search</a:t>
            </a:r>
            <a:endParaRPr lang="en-US" sz="1100" dirty="0"/>
          </a:p>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4224528" y="1078992"/>
            <a:ext cx="4663440" cy="1783080"/>
          </a:xfrm>
          <a:prstGeom prst="roundRect">
            <a:avLst>
              <a:gd name="adj" fmla="val 5128"/>
            </a:avLst>
          </a:prstGeom>
          <a:solidFill>
            <a:srgbClr val="F0FDF4"/>
          </a:solidFill>
          <a:ln/>
          <a:effectLst>
            <a:outerShdw sx="100000" sy="100000" kx="0" ky="0" algn="bl" rotWithShape="0" blurRad="76200" dist="25400" dir="2700000">
              <a:srgbClr val="000000">
                <a:alpha val="13000"/>
              </a:srgbClr>
            </a:outerShdw>
          </a:effectLst>
        </p:spPr>
      </p:sp>
      <p:sp>
        <p:nvSpPr>
          <p:cNvPr id="26" name="Text 24"/>
          <p:cNvSpPr/>
          <p:nvPr/>
        </p:nvSpPr>
        <p:spPr>
          <a:xfrm>
            <a:off x="4343400" y="1170432"/>
            <a:ext cx="4425696" cy="411480"/>
          </a:xfrm>
          <a:prstGeom prst="rect">
            <a:avLst/>
          </a:prstGeom>
          <a:noFill/>
          <a:ln/>
        </p:spPr>
        <p:txBody>
          <a:bodyPr wrap="square" rtlCol="0" anchor="ctr"/>
          <a:lstStyle/>
          <a:p>
            <a:pPr indent="0" marL="0">
              <a:buNone/>
            </a:pPr>
            <a:r>
              <a:rPr lang="en-US" sz="1150" b="1" dirty="0">
                <a:solidFill>
                  <a:srgbClr val="16A34A"/>
                </a:solidFill>
                <a:latin typeface="Calibri" pitchFamily="34" charset="0"/>
                <a:ea typeface="Calibri" pitchFamily="34" charset="-122"/>
                <a:cs typeface="Calibri" pitchFamily="34" charset="-120"/>
              </a:rPr>
              <a:t>Retrieved #1: Orthopedic Procedure Guidelines  [relevance: 0.5106]</a:t>
            </a:r>
            <a:endParaRPr lang="en-US" sz="1150" dirty="0"/>
          </a:p>
        </p:txBody>
      </p:sp>
      <p:sp>
        <p:nvSpPr>
          <p:cNvPr id="27" name="Text 25"/>
          <p:cNvSpPr/>
          <p:nvPr/>
        </p:nvSpPr>
        <p:spPr>
          <a:xfrm>
            <a:off x="4343400" y="1554480"/>
            <a:ext cx="4425696" cy="1234440"/>
          </a:xfrm>
          <a:prstGeom prst="rect">
            <a:avLst/>
          </a:prstGeom>
          <a:noFill/>
          <a:ln/>
        </p:spPr>
        <p:txBody>
          <a:bodyPr wrap="square" rtlCol="0" anchor="ctr"/>
          <a:lstStyle/>
          <a:p>
            <a:pPr indent="0" marL="0">
              <a:buNone/>
            </a:pPr>
            <a:r>
              <a:rPr lang="en-US" sz="1000" dirty="0">
                <a:solidFill>
                  <a:srgbClr val="1E3A2F"/>
                </a:solidFill>
                <a:latin typeface="Calibri" pitchFamily="34" charset="0"/>
                <a:ea typeface="Calibri" pitchFamily="34" charset="-122"/>
                <a:cs typeface="Calibri" pitchFamily="34" charset="-120"/>
              </a:rPr>
              <a:t>Orthopedic claims with more than 5 procedures require itemized documentation. Upcoding of evaluation codes is a known FWA pattern. Modifier use exceeding 3 per claim requires supervisor review...</a:t>
            </a:r>
            <a:endParaRPr lang="en-US" sz="1000" dirty="0"/>
          </a:p>
        </p:txBody>
      </p:sp>
      <p:sp>
        <p:nvSpPr>
          <p:cNvPr id="28" name="Shape 26"/>
          <p:cNvSpPr/>
          <p:nvPr/>
        </p:nvSpPr>
        <p:spPr>
          <a:xfrm>
            <a:off x="4224528" y="2999232"/>
            <a:ext cx="4663440" cy="1737360"/>
          </a:xfrm>
          <a:prstGeom prst="roundRect">
            <a:avLst>
              <a:gd name="adj" fmla="val 5263"/>
            </a:avLst>
          </a:prstGeom>
          <a:solidFill>
            <a:srgbClr val="FFF8E1"/>
          </a:solidFill>
          <a:ln/>
          <a:effectLst>
            <a:outerShdw sx="100000" sy="100000" kx="0" ky="0" algn="bl" rotWithShape="0" blurRad="76200" dist="25400" dir="2700000">
              <a:srgbClr val="000000">
                <a:alpha val="13000"/>
              </a:srgbClr>
            </a:outerShdw>
          </a:effectLst>
        </p:spPr>
      </p:sp>
      <p:sp>
        <p:nvSpPr>
          <p:cNvPr id="29" name="Text 27"/>
          <p:cNvSpPr/>
          <p:nvPr/>
        </p:nvSpPr>
        <p:spPr>
          <a:xfrm>
            <a:off x="4343400" y="3090672"/>
            <a:ext cx="4425696" cy="292608"/>
          </a:xfrm>
          <a:prstGeom prst="rect">
            <a:avLst/>
          </a:prstGeom>
          <a:noFill/>
          <a:ln/>
        </p:spPr>
        <p:txBody>
          <a:bodyPr wrap="square"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Retrieved #2: DME Billing Policy  [relevance: 0.4994]</a:t>
            </a:r>
            <a:endParaRPr lang="en-US" sz="1150" dirty="0"/>
          </a:p>
        </p:txBody>
      </p:sp>
      <p:sp>
        <p:nvSpPr>
          <p:cNvPr id="30" name="Text 28"/>
          <p:cNvSpPr/>
          <p:nvPr/>
        </p:nvSpPr>
        <p:spPr>
          <a:xfrm>
            <a:off x="4343400" y="3401568"/>
            <a:ext cx="4425696" cy="1234440"/>
          </a:xfrm>
          <a:prstGeom prst="rect">
            <a:avLst/>
          </a:prstGeom>
          <a:noFill/>
          <a:ln/>
        </p:spPr>
        <p:txBody>
          <a:bodyPr wrap="square" rtlCol="0" anchor="ctr"/>
          <a:lstStyle/>
          <a:p>
            <a:pPr indent="0" marL="0">
              <a:buNone/>
            </a:pPr>
            <a:r>
              <a:rPr lang="en-US" sz="1000" dirty="0">
                <a:solidFill>
                  <a:srgbClr val="3B1A1A"/>
                </a:solidFill>
                <a:latin typeface="Calibri" pitchFamily="34" charset="0"/>
                <a:ea typeface="Calibri" pitchFamily="34" charset="-122"/>
                <a:cs typeface="Calibri" pitchFamily="34" charset="-120"/>
              </a:rPr>
              <a:t>DME claims require a Certificate of Medical Necessity. Billed amounts exceeding $10,000 require prior authorization. Claims submitted &gt;90 days after service are subject to denial...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sp>
      <p:sp>
        <p:nvSpPr>
          <p:cNvPr id="3" name="Text 1"/>
          <p:cNvSpPr/>
          <p:nvPr/>
        </p:nvSpPr>
        <p:spPr>
          <a:xfrm>
            <a:off x="457200" y="182880"/>
            <a:ext cx="822960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Agent 3 — Actual Clinical Reviewer Brief</a:t>
            </a:r>
            <a:endParaRPr lang="en-US" sz="2400" dirty="0"/>
          </a:p>
        </p:txBody>
      </p:sp>
      <p:sp>
        <p:nvSpPr>
          <p:cNvPr id="4" name="Text 2"/>
          <p:cNvSpPr/>
          <p:nvPr/>
        </p:nvSpPr>
        <p:spPr>
          <a:xfrm>
            <a:off x="457200" y="73152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Exact output generated by the notebook for the DME/Orthopedic claim</a:t>
            </a:r>
            <a:endParaRPr lang="en-US" sz="1200" dirty="0"/>
          </a:p>
        </p:txBody>
      </p:sp>
      <p:sp>
        <p:nvSpPr>
          <p:cNvPr id="5" name="Shape 3"/>
          <p:cNvSpPr/>
          <p:nvPr/>
        </p:nvSpPr>
        <p:spPr>
          <a:xfrm>
            <a:off x="256032" y="1024128"/>
            <a:ext cx="8631936" cy="3858768"/>
          </a:xfrm>
          <a:prstGeom prst="roundRect">
            <a:avLst>
              <a:gd name="adj" fmla="val 2370"/>
            </a:avLst>
          </a:prstGeom>
          <a:solidFill>
            <a:srgbClr val="112033"/>
          </a:solidFill>
          <a:ln/>
          <a:effectLst>
            <a:outerShdw sx="100000" sy="100000" kx="0" ky="0" algn="bl" rotWithShape="0" blurRad="76200" dist="25400" dir="2700000">
              <a:srgbClr val="000000">
                <a:alpha val="13000"/>
              </a:srgbClr>
            </a:outerShdw>
          </a:effectLst>
        </p:spPr>
      </p:sp>
      <p:sp>
        <p:nvSpPr>
          <p:cNvPr id="6" name="Shape 4"/>
          <p:cNvSpPr/>
          <p:nvPr/>
        </p:nvSpPr>
        <p:spPr>
          <a:xfrm>
            <a:off x="256032" y="1024128"/>
            <a:ext cx="8631936" cy="384048"/>
          </a:xfrm>
          <a:prstGeom prst="rect">
            <a:avLst/>
          </a:prstGeom>
          <a:solidFill>
            <a:srgbClr val="0D9488"/>
          </a:solidFill>
          <a:ln w="12700">
            <a:solidFill>
              <a:srgbClr val="0D9488"/>
            </a:solidFill>
            <a:prstDash val="solid"/>
          </a:ln>
        </p:spPr>
      </p:sp>
      <p:sp>
        <p:nvSpPr>
          <p:cNvPr id="7" name="Text 5"/>
          <p:cNvSpPr/>
          <p:nvPr/>
        </p:nvSpPr>
        <p:spPr>
          <a:xfrm>
            <a:off x="365760" y="1051560"/>
            <a:ext cx="841248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CLINICAL REVIEWER BRIEF  —  DME / Orthopedic  —  Risk: HIGH  —  Score: 0.9683</a:t>
            </a:r>
            <a:endParaRPr lang="en-US" sz="1100" dirty="0"/>
          </a:p>
        </p:txBody>
      </p:sp>
      <p:sp>
        <p:nvSpPr>
          <p:cNvPr id="8" name="Text 6"/>
          <p:cNvSpPr/>
          <p:nvPr/>
        </p:nvSpPr>
        <p:spPr>
          <a:xfrm>
            <a:off x="402336" y="1481328"/>
            <a:ext cx="2103120" cy="256032"/>
          </a:xfrm>
          <a:prstGeom prst="rect">
            <a:avLst/>
          </a:prstGeom>
          <a:noFill/>
          <a:ln/>
        </p:spPr>
        <p:txBody>
          <a:bodyPr wrap="square"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CLAIM SUMMARY:</a:t>
            </a:r>
            <a:endParaRPr lang="en-US" sz="1000" dirty="0"/>
          </a:p>
        </p:txBody>
      </p:sp>
      <p:sp>
        <p:nvSpPr>
          <p:cNvPr id="9" name="Text 7"/>
          <p:cNvSpPr/>
          <p:nvPr/>
        </p:nvSpPr>
        <p:spPr>
          <a:xfrm>
            <a:off x="2542032" y="1481328"/>
            <a:ext cx="6217920" cy="694944"/>
          </a:xfrm>
          <a:prstGeom prst="rect">
            <a:avLst/>
          </a:prstGeom>
          <a:noFill/>
          <a:ln/>
        </p:spPr>
        <p:txBody>
          <a:bodyPr wrap="square" rtlCol="0" anchor="ctr"/>
          <a:lstStyle/>
          <a:p>
            <a:pPr indent="0" marL="0">
              <a:buNone/>
            </a:pPr>
            <a:r>
              <a:rPr lang="en-US" sz="950" dirty="0">
                <a:solidFill>
                  <a:srgbClr val="AABFD6"/>
                </a:solidFill>
                <a:latin typeface="Calibri" pitchFamily="34" charset="0"/>
                <a:ea typeface="Calibri" pitchFamily="34" charset="-122"/>
                <a:cs typeface="Calibri" pitchFamily="34" charset="-120"/>
              </a:rPr>
              <a:t>This DME claim for Orthopedic services flagged with anomaly score 0.9683 (Risk: HIGH). Billed $42,000 vs allowed $1,800 = 23.32x ratio, exceeding the 2.0x threshold.</a:t>
            </a:r>
            <a:endParaRPr lang="en-US" sz="950" dirty="0"/>
          </a:p>
        </p:txBody>
      </p:sp>
      <p:sp>
        <p:nvSpPr>
          <p:cNvPr id="10" name="Text 8"/>
          <p:cNvSpPr/>
          <p:nvPr/>
        </p:nvSpPr>
        <p:spPr>
          <a:xfrm>
            <a:off x="402336" y="2286000"/>
            <a:ext cx="2103120" cy="256032"/>
          </a:xfrm>
          <a:prstGeom prst="rect">
            <a:avLst/>
          </a:prstGeom>
          <a:noFill/>
          <a:ln/>
        </p:spPr>
        <p:txBody>
          <a:bodyPr wrap="square"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SHAP ANOMALY DRIVERS:</a:t>
            </a:r>
            <a:endParaRPr lang="en-US" sz="1000" dirty="0"/>
          </a:p>
        </p:txBody>
      </p:sp>
      <p:sp>
        <p:nvSpPr>
          <p:cNvPr id="11" name="Text 9"/>
          <p:cNvSpPr/>
          <p:nvPr/>
        </p:nvSpPr>
        <p:spPr>
          <a:xfrm>
            <a:off x="2542032" y="2286000"/>
            <a:ext cx="6217920" cy="694944"/>
          </a:xfrm>
          <a:prstGeom prst="rect">
            <a:avLst/>
          </a:prstGeom>
          <a:noFill/>
          <a:ln/>
        </p:spPr>
        <p:txBody>
          <a:bodyPr wrap="square" rtlCol="0" anchor="ctr"/>
          <a:lstStyle/>
          <a:p>
            <a:pPr indent="0" marL="0">
              <a:buNone/>
            </a:pPr>
            <a:r>
              <a:rPr lang="en-US" sz="950" dirty="0">
                <a:solidFill>
                  <a:srgbClr val="AABFD6"/>
                </a:solidFill>
                <a:latin typeface="Calibri" pitchFamily="34" charset="0"/>
                <a:ea typeface="Calibri" pitchFamily="34" charset="-122"/>
                <a:cs typeface="Calibri" pitchFamily="34" charset="-120"/>
              </a:rPr>
              <a:t>1. billed_to_allowed_ratio = 23.32 → raises risk (SHAP: +5.0552)</a:t>
            </a:r>
            <a:endParaRPr lang="en-US" sz="950" dirty="0"/>
          </a:p>
          <a:p>
            <a:pPr indent="0" marL="0">
              <a:buNone/>
            </a:pPr>
            <a:r>
              <a:rPr lang="en-US" sz="950" dirty="0">
                <a:solidFill>
                  <a:srgbClr val="AABFD6"/>
                </a:solidFill>
                <a:latin typeface="Calibri" pitchFamily="34" charset="0"/>
                <a:ea typeface="Calibri" pitchFamily="34" charset="-122"/>
                <a:cs typeface="Calibri" pitchFamily="34" charset="-120"/>
              </a:rPr>
              <a:t>2. billed_amount = $42,000 → raises risk (SHAP: +0.6881)</a:t>
            </a:r>
            <a:endParaRPr lang="en-US" sz="950" dirty="0"/>
          </a:p>
          <a:p>
            <a:pPr indent="0" marL="0">
              <a:buNone/>
            </a:pPr>
            <a:r>
              <a:rPr lang="en-US" sz="950" dirty="0">
                <a:solidFill>
                  <a:srgbClr val="AABFD6"/>
                </a:solidFill>
                <a:latin typeface="Calibri" pitchFamily="34" charset="0"/>
                <a:ea typeface="Calibri" pitchFamily="34" charset="-122"/>
                <a:cs typeface="Calibri" pitchFamily="34" charset="-120"/>
              </a:rPr>
              <a:t>3. modifier_count = 4 → lowers risk (SHAP: -0.5813)</a:t>
            </a:r>
            <a:endParaRPr lang="en-US" sz="950" dirty="0"/>
          </a:p>
        </p:txBody>
      </p:sp>
      <p:sp>
        <p:nvSpPr>
          <p:cNvPr id="12" name="Text 10"/>
          <p:cNvSpPr/>
          <p:nvPr/>
        </p:nvSpPr>
        <p:spPr>
          <a:xfrm>
            <a:off x="402336" y="3090672"/>
            <a:ext cx="2103120" cy="256032"/>
          </a:xfrm>
          <a:prstGeom prst="rect">
            <a:avLst/>
          </a:prstGeom>
          <a:noFill/>
          <a:ln/>
        </p:spPr>
        <p:txBody>
          <a:bodyPr wrap="square"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POLICY CONCERNS:</a:t>
            </a:r>
            <a:endParaRPr lang="en-US" sz="1000" dirty="0"/>
          </a:p>
        </p:txBody>
      </p:sp>
      <p:sp>
        <p:nvSpPr>
          <p:cNvPr id="13" name="Text 11"/>
          <p:cNvSpPr/>
          <p:nvPr/>
        </p:nvSpPr>
        <p:spPr>
          <a:xfrm>
            <a:off x="2542032" y="3090672"/>
            <a:ext cx="6217920" cy="694944"/>
          </a:xfrm>
          <a:prstGeom prst="rect">
            <a:avLst/>
          </a:prstGeom>
          <a:noFill/>
          <a:ln/>
        </p:spPr>
        <p:txBody>
          <a:bodyPr wrap="square" rtlCol="0" anchor="ctr"/>
          <a:lstStyle/>
          <a:p>
            <a:pPr indent="0" marL="0">
              <a:buNone/>
            </a:pPr>
            <a:r>
              <a:rPr lang="en-US" sz="950" dirty="0">
                <a:solidFill>
                  <a:srgbClr val="AABFD6"/>
                </a:solidFill>
                <a:latin typeface="Calibri" pitchFamily="34" charset="0"/>
                <a:ea typeface="Calibri" pitchFamily="34" charset="-122"/>
                <a:cs typeface="Calibri" pitchFamily="34" charset="-120"/>
              </a:rPr>
              <a:t>Retrieved via RAG: Orthopedic Procedure Guidelines + DME Billing Policy. Claim exhibits 4 standard FWA red flags: late submission, excessive modifiers, high frequency, extreme ratio.</a:t>
            </a:r>
            <a:endParaRPr lang="en-US" sz="950" dirty="0"/>
          </a:p>
        </p:txBody>
      </p:sp>
      <p:sp>
        <p:nvSpPr>
          <p:cNvPr id="14" name="Text 12"/>
          <p:cNvSpPr/>
          <p:nvPr/>
        </p:nvSpPr>
        <p:spPr>
          <a:xfrm>
            <a:off x="402336" y="3895344"/>
            <a:ext cx="2103120" cy="256032"/>
          </a:xfrm>
          <a:prstGeom prst="rect">
            <a:avLst/>
          </a:prstGeom>
          <a:noFill/>
          <a:ln/>
        </p:spPr>
        <p:txBody>
          <a:bodyPr wrap="square"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RECOMMENDED ACTION:</a:t>
            </a:r>
            <a:endParaRPr lang="en-US" sz="1000" dirty="0"/>
          </a:p>
        </p:txBody>
      </p:sp>
      <p:sp>
        <p:nvSpPr>
          <p:cNvPr id="15" name="Text 13"/>
          <p:cNvSpPr/>
          <p:nvPr/>
        </p:nvSpPr>
        <p:spPr>
          <a:xfrm>
            <a:off x="2542032" y="3895344"/>
            <a:ext cx="6217920" cy="694944"/>
          </a:xfrm>
          <a:prstGeom prst="rect">
            <a:avLst/>
          </a:prstGeom>
          <a:noFill/>
          <a:ln/>
        </p:spPr>
        <p:txBody>
          <a:bodyPr wrap="square" rtlCol="0" anchor="ctr"/>
          <a:lstStyle/>
          <a:p>
            <a:pPr indent="0" marL="0">
              <a:buNone/>
            </a:pPr>
            <a:r>
              <a:rPr lang="en-US" sz="950" dirty="0">
                <a:solidFill>
                  <a:srgbClr val="AABFD6"/>
                </a:solidFill>
                <a:latin typeface="Calibri" pitchFamily="34" charset="0"/>
                <a:ea typeface="Calibri" pitchFamily="34" charset="-122"/>
                <a:cs typeface="Calibri" pitchFamily="34" charset="-120"/>
              </a:rPr>
              <a:t>Escalate to clinical audit. Request itemized documentation for all 18 procedures. Verify CMN and confirm place-of-service code 12. DO NOT approve payment pending review.</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Pipeline Correctly Passes Clean Claims</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Cell 12 output — Physician/Cardiovascular claim correctly NOT flagged</a:t>
            </a:r>
            <a:endParaRPr lang="en-US" sz="1200" dirty="0"/>
          </a:p>
        </p:txBody>
      </p:sp>
      <p:sp>
        <p:nvSpPr>
          <p:cNvPr id="5" name="Shape 3"/>
          <p:cNvSpPr/>
          <p:nvPr/>
        </p:nvSpPr>
        <p:spPr>
          <a:xfrm>
            <a:off x="256032" y="1097280"/>
            <a:ext cx="4160520" cy="3657600"/>
          </a:xfrm>
          <a:prstGeom prst="roundRect">
            <a:avLst>
              <a:gd name="adj" fmla="val 2500"/>
            </a:avLst>
          </a:prstGeom>
          <a:solidFill>
            <a:srgbClr val="FFF7ED"/>
          </a:solidFill>
          <a:ln/>
          <a:effectLst>
            <a:outerShdw sx="100000" sy="100000" kx="0" ky="0" algn="bl" rotWithShape="0" blurRad="76200" dist="25400" dir="2700000">
              <a:srgbClr val="000000">
                <a:alpha val="13000"/>
              </a:srgbClr>
            </a:outerShdw>
          </a:effectLst>
        </p:spPr>
      </p:sp>
      <p:sp>
        <p:nvSpPr>
          <p:cNvPr id="6" name="Text 4"/>
          <p:cNvSpPr/>
          <p:nvPr/>
        </p:nvSpPr>
        <p:spPr>
          <a:xfrm>
            <a:off x="384048" y="1207008"/>
            <a:ext cx="3840480" cy="292608"/>
          </a:xfrm>
          <a:prstGeom prst="rect">
            <a:avLst/>
          </a:prstGeom>
          <a:noFill/>
          <a:ln/>
        </p:spPr>
        <p:txBody>
          <a:bodyPr wrap="square"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HIGH-RISK CLAIM (Cell 11)</a:t>
            </a:r>
            <a:endParaRPr lang="en-US" sz="1300" dirty="0"/>
          </a:p>
        </p:txBody>
      </p:sp>
      <p:sp>
        <p:nvSpPr>
          <p:cNvPr id="7" name="Text 5"/>
          <p:cNvSpPr/>
          <p:nvPr/>
        </p:nvSpPr>
        <p:spPr>
          <a:xfrm>
            <a:off x="384048" y="1627632"/>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Provider/Diagnosis:</a:t>
            </a:r>
            <a:endParaRPr lang="en-US" sz="1100" dirty="0"/>
          </a:p>
        </p:txBody>
      </p:sp>
      <p:sp>
        <p:nvSpPr>
          <p:cNvPr id="8" name="Text 6"/>
          <p:cNvSpPr/>
          <p:nvPr/>
        </p:nvSpPr>
        <p:spPr>
          <a:xfrm>
            <a:off x="2103120" y="1627632"/>
            <a:ext cx="2194560" cy="365760"/>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DME / Orthopedic</a:t>
            </a:r>
            <a:endParaRPr lang="en-US" sz="1100" dirty="0"/>
          </a:p>
        </p:txBody>
      </p:sp>
      <p:sp>
        <p:nvSpPr>
          <p:cNvPr id="9" name="Text 7"/>
          <p:cNvSpPr/>
          <p:nvPr/>
        </p:nvSpPr>
        <p:spPr>
          <a:xfrm>
            <a:off x="384048" y="2103120"/>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Billed:</a:t>
            </a:r>
            <a:endParaRPr lang="en-US" sz="1100" dirty="0"/>
          </a:p>
        </p:txBody>
      </p:sp>
      <p:sp>
        <p:nvSpPr>
          <p:cNvPr id="10" name="Text 8"/>
          <p:cNvSpPr/>
          <p:nvPr/>
        </p:nvSpPr>
        <p:spPr>
          <a:xfrm>
            <a:off x="2103120" y="2103120"/>
            <a:ext cx="2194560" cy="365760"/>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$42,000</a:t>
            </a:r>
            <a:endParaRPr lang="en-US" sz="1100" dirty="0"/>
          </a:p>
        </p:txBody>
      </p:sp>
      <p:sp>
        <p:nvSpPr>
          <p:cNvPr id="11" name="Text 9"/>
          <p:cNvSpPr/>
          <p:nvPr/>
        </p:nvSpPr>
        <p:spPr>
          <a:xfrm>
            <a:off x="384048" y="2578608"/>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Allowed:</a:t>
            </a:r>
            <a:endParaRPr lang="en-US" sz="1100" dirty="0"/>
          </a:p>
        </p:txBody>
      </p:sp>
      <p:sp>
        <p:nvSpPr>
          <p:cNvPr id="12" name="Text 10"/>
          <p:cNvSpPr/>
          <p:nvPr/>
        </p:nvSpPr>
        <p:spPr>
          <a:xfrm>
            <a:off x="2103120" y="2578608"/>
            <a:ext cx="2194560" cy="365760"/>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$1,800</a:t>
            </a:r>
            <a:endParaRPr lang="en-US" sz="1100" dirty="0"/>
          </a:p>
        </p:txBody>
      </p:sp>
      <p:sp>
        <p:nvSpPr>
          <p:cNvPr id="13" name="Text 11"/>
          <p:cNvSpPr/>
          <p:nvPr/>
        </p:nvSpPr>
        <p:spPr>
          <a:xfrm>
            <a:off x="384048" y="3054096"/>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Ratio:</a:t>
            </a:r>
            <a:endParaRPr lang="en-US" sz="1100" dirty="0"/>
          </a:p>
        </p:txBody>
      </p:sp>
      <p:sp>
        <p:nvSpPr>
          <p:cNvPr id="14" name="Text 12"/>
          <p:cNvSpPr/>
          <p:nvPr/>
        </p:nvSpPr>
        <p:spPr>
          <a:xfrm>
            <a:off x="2103120" y="3054096"/>
            <a:ext cx="2194560" cy="365760"/>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23.32x</a:t>
            </a:r>
            <a:endParaRPr lang="en-US" sz="1100" dirty="0"/>
          </a:p>
        </p:txBody>
      </p:sp>
      <p:sp>
        <p:nvSpPr>
          <p:cNvPr id="15" name="Text 13"/>
          <p:cNvSpPr/>
          <p:nvPr/>
        </p:nvSpPr>
        <p:spPr>
          <a:xfrm>
            <a:off x="384048" y="3529584"/>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Anomaly Score:</a:t>
            </a:r>
            <a:endParaRPr lang="en-US" sz="1100" dirty="0"/>
          </a:p>
        </p:txBody>
      </p:sp>
      <p:sp>
        <p:nvSpPr>
          <p:cNvPr id="16" name="Text 14"/>
          <p:cNvSpPr/>
          <p:nvPr/>
        </p:nvSpPr>
        <p:spPr>
          <a:xfrm>
            <a:off x="2103120" y="3529584"/>
            <a:ext cx="2194560" cy="365760"/>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0.9683</a:t>
            </a:r>
            <a:endParaRPr lang="en-US" sz="1100" dirty="0"/>
          </a:p>
        </p:txBody>
      </p:sp>
      <p:sp>
        <p:nvSpPr>
          <p:cNvPr id="17" name="Text 15"/>
          <p:cNvSpPr/>
          <p:nvPr/>
        </p:nvSpPr>
        <p:spPr>
          <a:xfrm>
            <a:off x="384048" y="4005072"/>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Result:</a:t>
            </a:r>
            <a:endParaRPr lang="en-US" sz="1100" dirty="0"/>
          </a:p>
        </p:txBody>
      </p:sp>
      <p:sp>
        <p:nvSpPr>
          <p:cNvPr id="18" name="Text 16"/>
          <p:cNvSpPr/>
          <p:nvPr/>
        </p:nvSpPr>
        <p:spPr>
          <a:xfrm>
            <a:off x="2103120" y="4005072"/>
            <a:ext cx="2194560" cy="365760"/>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FLAGGED → escalated to Agents 2+3</a:t>
            </a:r>
            <a:endParaRPr lang="en-US" sz="1100" dirty="0"/>
          </a:p>
        </p:txBody>
      </p:sp>
      <p:sp>
        <p:nvSpPr>
          <p:cNvPr id="19" name="Shape 17"/>
          <p:cNvSpPr/>
          <p:nvPr/>
        </p:nvSpPr>
        <p:spPr>
          <a:xfrm>
            <a:off x="4727448" y="1097280"/>
            <a:ext cx="4160520" cy="3657600"/>
          </a:xfrm>
          <a:prstGeom prst="roundRect">
            <a:avLst>
              <a:gd name="adj" fmla="val 2500"/>
            </a:avLst>
          </a:prstGeom>
          <a:solidFill>
            <a:srgbClr val="F0FDF4"/>
          </a:solidFill>
          <a:ln/>
          <a:effectLst>
            <a:outerShdw sx="100000" sy="100000" kx="0" ky="0" algn="bl" rotWithShape="0" blurRad="76200" dist="25400" dir="2700000">
              <a:srgbClr val="000000">
                <a:alpha val="13000"/>
              </a:srgbClr>
            </a:outerShdw>
          </a:effectLst>
        </p:spPr>
      </p:sp>
      <p:sp>
        <p:nvSpPr>
          <p:cNvPr id="20" name="Text 18"/>
          <p:cNvSpPr/>
          <p:nvPr/>
        </p:nvSpPr>
        <p:spPr>
          <a:xfrm>
            <a:off x="4864608" y="1207008"/>
            <a:ext cx="3840480" cy="292608"/>
          </a:xfrm>
          <a:prstGeom prst="rect">
            <a:avLst/>
          </a:prstGeom>
          <a:noFill/>
          <a:ln/>
        </p:spPr>
        <p:txBody>
          <a:bodyPr wrap="square"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NORMAL CLAIM (Cell 12)</a:t>
            </a:r>
            <a:endParaRPr lang="en-US" sz="1300" dirty="0"/>
          </a:p>
        </p:txBody>
      </p:sp>
      <p:sp>
        <p:nvSpPr>
          <p:cNvPr id="21" name="Text 19"/>
          <p:cNvSpPr/>
          <p:nvPr/>
        </p:nvSpPr>
        <p:spPr>
          <a:xfrm>
            <a:off x="4864608" y="1627632"/>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Provider/Diagnosis:</a:t>
            </a:r>
            <a:endParaRPr lang="en-US" sz="1100" dirty="0"/>
          </a:p>
        </p:txBody>
      </p:sp>
      <p:sp>
        <p:nvSpPr>
          <p:cNvPr id="22" name="Text 20"/>
          <p:cNvSpPr/>
          <p:nvPr/>
        </p:nvSpPr>
        <p:spPr>
          <a:xfrm>
            <a:off x="6583680" y="1627632"/>
            <a:ext cx="2194560" cy="365760"/>
          </a:xfrm>
          <a:prstGeom prst="rect">
            <a:avLst/>
          </a:prstGeom>
          <a:noFill/>
          <a:ln/>
        </p:spPr>
        <p:txBody>
          <a:bodyPr wrap="square" rtlCol="0" anchor="ctr"/>
          <a:lstStyle/>
          <a:p>
            <a:pPr indent="0" marL="0">
              <a:buNone/>
            </a:pPr>
            <a:r>
              <a:rPr lang="en-US" sz="1100" b="1" dirty="0">
                <a:solidFill>
                  <a:srgbClr val="14532D"/>
                </a:solidFill>
                <a:latin typeface="Calibri" pitchFamily="34" charset="0"/>
                <a:ea typeface="Calibri" pitchFamily="34" charset="-122"/>
                <a:cs typeface="Calibri" pitchFamily="34" charset="-120"/>
              </a:rPr>
              <a:t>Physician / Cardiovascular</a:t>
            </a:r>
            <a:endParaRPr lang="en-US" sz="1100" dirty="0"/>
          </a:p>
        </p:txBody>
      </p:sp>
      <p:sp>
        <p:nvSpPr>
          <p:cNvPr id="23" name="Text 21"/>
          <p:cNvSpPr/>
          <p:nvPr/>
        </p:nvSpPr>
        <p:spPr>
          <a:xfrm>
            <a:off x="4864608" y="2103120"/>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Billed:</a:t>
            </a:r>
            <a:endParaRPr lang="en-US" sz="1100" dirty="0"/>
          </a:p>
        </p:txBody>
      </p:sp>
      <p:sp>
        <p:nvSpPr>
          <p:cNvPr id="24" name="Text 22"/>
          <p:cNvSpPr/>
          <p:nvPr/>
        </p:nvSpPr>
        <p:spPr>
          <a:xfrm>
            <a:off x="6583680" y="2103120"/>
            <a:ext cx="2194560" cy="365760"/>
          </a:xfrm>
          <a:prstGeom prst="rect">
            <a:avLst/>
          </a:prstGeom>
          <a:noFill/>
          <a:ln/>
        </p:spPr>
        <p:txBody>
          <a:bodyPr wrap="square" rtlCol="0" anchor="ctr"/>
          <a:lstStyle/>
          <a:p>
            <a:pPr indent="0" marL="0">
              <a:buNone/>
            </a:pPr>
            <a:r>
              <a:rPr lang="en-US" sz="1100" b="1" dirty="0">
                <a:solidFill>
                  <a:srgbClr val="14532D"/>
                </a:solidFill>
                <a:latin typeface="Calibri" pitchFamily="34" charset="0"/>
                <a:ea typeface="Calibri" pitchFamily="34" charset="-122"/>
                <a:cs typeface="Calibri" pitchFamily="34" charset="-120"/>
              </a:rPr>
              <a:t>$850</a:t>
            </a:r>
            <a:endParaRPr lang="en-US" sz="1100" dirty="0"/>
          </a:p>
        </p:txBody>
      </p:sp>
      <p:sp>
        <p:nvSpPr>
          <p:cNvPr id="25" name="Text 23"/>
          <p:cNvSpPr/>
          <p:nvPr/>
        </p:nvSpPr>
        <p:spPr>
          <a:xfrm>
            <a:off x="4864608" y="2578608"/>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Allowed:</a:t>
            </a:r>
            <a:endParaRPr lang="en-US" sz="1100" dirty="0"/>
          </a:p>
        </p:txBody>
      </p:sp>
      <p:sp>
        <p:nvSpPr>
          <p:cNvPr id="26" name="Text 24"/>
          <p:cNvSpPr/>
          <p:nvPr/>
        </p:nvSpPr>
        <p:spPr>
          <a:xfrm>
            <a:off x="6583680" y="2578608"/>
            <a:ext cx="2194560" cy="365760"/>
          </a:xfrm>
          <a:prstGeom prst="rect">
            <a:avLst/>
          </a:prstGeom>
          <a:noFill/>
          <a:ln/>
        </p:spPr>
        <p:txBody>
          <a:bodyPr wrap="square" rtlCol="0" anchor="ctr"/>
          <a:lstStyle/>
          <a:p>
            <a:pPr indent="0" marL="0">
              <a:buNone/>
            </a:pPr>
            <a:r>
              <a:rPr lang="en-US" sz="1100" b="1" dirty="0">
                <a:solidFill>
                  <a:srgbClr val="14532D"/>
                </a:solidFill>
                <a:latin typeface="Calibri" pitchFamily="34" charset="0"/>
                <a:ea typeface="Calibri" pitchFamily="34" charset="-122"/>
                <a:cs typeface="Calibri" pitchFamily="34" charset="-120"/>
              </a:rPr>
              <a:t>est. $720</a:t>
            </a:r>
            <a:endParaRPr lang="en-US" sz="1100" dirty="0"/>
          </a:p>
        </p:txBody>
      </p:sp>
      <p:sp>
        <p:nvSpPr>
          <p:cNvPr id="27" name="Text 25"/>
          <p:cNvSpPr/>
          <p:nvPr/>
        </p:nvSpPr>
        <p:spPr>
          <a:xfrm>
            <a:off x="4864608" y="3054096"/>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Ratio:</a:t>
            </a:r>
            <a:endParaRPr lang="en-US" sz="1100" dirty="0"/>
          </a:p>
        </p:txBody>
      </p:sp>
      <p:sp>
        <p:nvSpPr>
          <p:cNvPr id="28" name="Text 26"/>
          <p:cNvSpPr/>
          <p:nvPr/>
        </p:nvSpPr>
        <p:spPr>
          <a:xfrm>
            <a:off x="6583680" y="3054096"/>
            <a:ext cx="2194560" cy="365760"/>
          </a:xfrm>
          <a:prstGeom prst="rect">
            <a:avLst/>
          </a:prstGeom>
          <a:noFill/>
          <a:ln/>
        </p:spPr>
        <p:txBody>
          <a:bodyPr wrap="square" rtlCol="0" anchor="ctr"/>
          <a:lstStyle/>
          <a:p>
            <a:pPr indent="0" marL="0">
              <a:buNone/>
            </a:pPr>
            <a:r>
              <a:rPr lang="en-US" sz="1100" b="1" dirty="0">
                <a:solidFill>
                  <a:srgbClr val="14532D"/>
                </a:solidFill>
                <a:latin typeface="Calibri" pitchFamily="34" charset="0"/>
                <a:ea typeface="Calibri" pitchFamily="34" charset="-122"/>
                <a:cs typeface="Calibri" pitchFamily="34" charset="-120"/>
              </a:rPr>
              <a:t>1.18x</a:t>
            </a:r>
            <a:endParaRPr lang="en-US" sz="1100" dirty="0"/>
          </a:p>
        </p:txBody>
      </p:sp>
      <p:sp>
        <p:nvSpPr>
          <p:cNvPr id="29" name="Text 27"/>
          <p:cNvSpPr/>
          <p:nvPr/>
        </p:nvSpPr>
        <p:spPr>
          <a:xfrm>
            <a:off x="4864608" y="3529584"/>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Anomaly Score:</a:t>
            </a:r>
            <a:endParaRPr lang="en-US" sz="1100" dirty="0"/>
          </a:p>
        </p:txBody>
      </p:sp>
      <p:sp>
        <p:nvSpPr>
          <p:cNvPr id="30" name="Text 28"/>
          <p:cNvSpPr/>
          <p:nvPr/>
        </p:nvSpPr>
        <p:spPr>
          <a:xfrm>
            <a:off x="6583680" y="3529584"/>
            <a:ext cx="2194560" cy="365760"/>
          </a:xfrm>
          <a:prstGeom prst="rect">
            <a:avLst/>
          </a:prstGeom>
          <a:noFill/>
          <a:ln/>
        </p:spPr>
        <p:txBody>
          <a:bodyPr wrap="square" rtlCol="0" anchor="ctr"/>
          <a:lstStyle/>
          <a:p>
            <a:pPr indent="0" marL="0">
              <a:buNone/>
            </a:pPr>
            <a:r>
              <a:rPr lang="en-US" sz="1100" b="1" dirty="0">
                <a:solidFill>
                  <a:srgbClr val="14532D"/>
                </a:solidFill>
                <a:latin typeface="Calibri" pitchFamily="34" charset="0"/>
                <a:ea typeface="Calibri" pitchFamily="34" charset="-122"/>
                <a:cs typeface="Calibri" pitchFamily="34" charset="-120"/>
              </a:rPr>
              <a:t>0.0006</a:t>
            </a:r>
            <a:endParaRPr lang="en-US" sz="1100" dirty="0"/>
          </a:p>
        </p:txBody>
      </p:sp>
      <p:sp>
        <p:nvSpPr>
          <p:cNvPr id="31" name="Text 29"/>
          <p:cNvSpPr/>
          <p:nvPr/>
        </p:nvSpPr>
        <p:spPr>
          <a:xfrm>
            <a:off x="4864608" y="4005072"/>
            <a:ext cx="1737360"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Result:</a:t>
            </a:r>
            <a:endParaRPr lang="en-US" sz="1100" dirty="0"/>
          </a:p>
        </p:txBody>
      </p:sp>
      <p:sp>
        <p:nvSpPr>
          <p:cNvPr id="32" name="Text 30"/>
          <p:cNvSpPr/>
          <p:nvPr/>
        </p:nvSpPr>
        <p:spPr>
          <a:xfrm>
            <a:off x="6583680" y="4005072"/>
            <a:ext cx="2194560" cy="365760"/>
          </a:xfrm>
          <a:prstGeom prst="rect">
            <a:avLst/>
          </a:prstGeom>
          <a:noFill/>
          <a:ln/>
        </p:spPr>
        <p:txBody>
          <a:bodyPr wrap="square" rtlCol="0" anchor="ctr"/>
          <a:lstStyle/>
          <a:p>
            <a:pPr indent="0" marL="0">
              <a:buNone/>
            </a:pPr>
            <a:r>
              <a:rPr lang="en-US" sz="1100" b="1" dirty="0">
                <a:solidFill>
                  <a:srgbClr val="14532D"/>
                </a:solidFill>
                <a:latin typeface="Calibri" pitchFamily="34" charset="0"/>
                <a:ea typeface="Calibri" pitchFamily="34" charset="-122"/>
                <a:cs typeface="Calibri" pitchFamily="34" charset="-120"/>
              </a:rPr>
              <a:t>PASSED → no escalation needed</a:t>
            </a:r>
            <a:endParaRPr lang="en-US" sz="1100" dirty="0"/>
          </a:p>
        </p:txBody>
      </p:sp>
      <p:sp>
        <p:nvSpPr>
          <p:cNvPr id="33" name="Text 31"/>
          <p:cNvSpPr/>
          <p:nvPr/>
        </p:nvSpPr>
        <p:spPr>
          <a:xfrm>
            <a:off x="256032" y="4800600"/>
            <a:ext cx="8631936"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Top SHAP drivers for normal claim (all push toward NORMAL): billed_to_allowed_ratio=1.18 (SHAP: -3.2578), num_procedures=2 (SHAP: -0.9018), claim_frequency_30d=3 (SHAP: -0.7074)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w="12700">
            <a:solidFill>
              <a:srgbClr val="0D2137"/>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Batch Scoring — 20 Test Claims at Once</a:t>
            </a:r>
            <a:endParaRPr lang="en-US" sz="2200" dirty="0"/>
          </a:p>
        </p:txBody>
      </p:sp>
      <p:sp>
        <p:nvSpPr>
          <p:cNvPr id="4" name="Text 2"/>
          <p:cNvSpPr/>
          <p:nvPr/>
        </p:nvSpPr>
        <p:spPr>
          <a:xfrm>
            <a:off x="457200" y="685800"/>
            <a:ext cx="8229600" cy="256032"/>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Cell 14 output — demonstrates production-scale throughput</a:t>
            </a:r>
            <a:endParaRPr lang="en-US" sz="1200" dirty="0"/>
          </a:p>
        </p:txBody>
      </p:sp>
      <p:graphicFrame>
        <p:nvGraphicFramePr>
          <p:cNvPr id="5" name="Chart 0" descr=""/>
          <p:cNvGraphicFramePr/>
          <p:nvPr/>
        </p:nvGraphicFramePr>
        <p:xfrm>
          <a:off x="256032" y="105156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77840" y="1051560"/>
            <a:ext cx="3310128" cy="3657600"/>
          </a:xfrm>
          <a:prstGeom prst="roundRect">
            <a:avLst>
              <a:gd name="adj" fmla="val 2762"/>
            </a:avLst>
          </a:prstGeom>
          <a:solidFill>
            <a:srgbClr val="F0F7FF"/>
          </a:solidFill>
          <a:ln/>
          <a:effectLst>
            <a:outerShdw sx="100000" sy="100000" kx="0" ky="0" algn="bl" rotWithShape="0" blurRad="76200" dist="25400" dir="2700000">
              <a:srgbClr val="000000">
                <a:alpha val="13000"/>
              </a:srgbClr>
            </a:outerShdw>
          </a:effectLst>
        </p:spPr>
      </p:sp>
      <p:sp>
        <p:nvSpPr>
          <p:cNvPr id="7" name="Text 4"/>
          <p:cNvSpPr/>
          <p:nvPr/>
        </p:nvSpPr>
        <p:spPr>
          <a:xfrm>
            <a:off x="5715000" y="1188720"/>
            <a:ext cx="3017520" cy="292608"/>
          </a:xfrm>
          <a:prstGeom prst="rect">
            <a:avLst/>
          </a:prstGeom>
          <a:noFill/>
          <a:ln/>
        </p:spPr>
        <p:txBody>
          <a:bodyPr wrap="square" rtlCol="0" anchor="ctr"/>
          <a:lstStyle/>
          <a:p>
            <a:pPr indent="0" marL="0">
              <a:buNone/>
            </a:pPr>
            <a:r>
              <a:rPr lang="en-US" sz="1300" b="1" dirty="0">
                <a:solidFill>
                  <a:srgbClr val="0D2137"/>
                </a:solidFill>
                <a:latin typeface="Calibri" pitchFamily="34" charset="0"/>
                <a:ea typeface="Calibri" pitchFamily="34" charset="-122"/>
                <a:cs typeface="Calibri" pitchFamily="34" charset="-120"/>
              </a:rPr>
              <a:t>Flagged in this batch:</a:t>
            </a:r>
            <a:endParaRPr lang="en-US" sz="1300" dirty="0"/>
          </a:p>
        </p:txBody>
      </p:sp>
      <p:sp>
        <p:nvSpPr>
          <p:cNvPr id="8" name="Shape 5"/>
          <p:cNvSpPr/>
          <p:nvPr/>
        </p:nvSpPr>
        <p:spPr>
          <a:xfrm>
            <a:off x="5715000" y="1554480"/>
            <a:ext cx="3017520" cy="658368"/>
          </a:xfrm>
          <a:prstGeom prst="roundRect">
            <a:avLst>
              <a:gd name="adj" fmla="val 8333"/>
            </a:avLst>
          </a:prstGeom>
          <a:solidFill>
            <a:srgbClr val="FFF8E1"/>
          </a:solidFill>
          <a:ln/>
        </p:spPr>
      </p:sp>
      <p:sp>
        <p:nvSpPr>
          <p:cNvPr id="9" name="Text 6"/>
          <p:cNvSpPr/>
          <p:nvPr/>
        </p:nvSpPr>
        <p:spPr>
          <a:xfrm>
            <a:off x="5833872" y="1609344"/>
            <a:ext cx="2743200" cy="256032"/>
          </a:xfrm>
          <a:prstGeom prst="rect">
            <a:avLst/>
          </a:prstGeom>
          <a:noFill/>
          <a:ln/>
        </p:spPr>
        <p:txBody>
          <a:bodyPr wrap="square" rtlCol="0" anchor="ctr"/>
          <a:lstStyle/>
          <a:p>
            <a:pPr indent="0" marL="0">
              <a:buNone/>
            </a:pPr>
            <a:r>
              <a:rPr lang="en-US" sz="1150" b="1" dirty="0">
                <a:solidFill>
                  <a:srgbClr val="92400E"/>
                </a:solidFill>
                <a:latin typeface="Calibri" pitchFamily="34" charset="0"/>
                <a:ea typeface="Calibri" pitchFamily="34" charset="-122"/>
                <a:cs typeface="Calibri" pitchFamily="34" charset="-120"/>
              </a:rPr>
              <a:t>Claim #1129</a:t>
            </a:r>
            <a:endParaRPr lang="en-US" sz="1150" dirty="0"/>
          </a:p>
        </p:txBody>
      </p:sp>
      <p:sp>
        <p:nvSpPr>
          <p:cNvPr id="10" name="Text 7"/>
          <p:cNvSpPr/>
          <p:nvPr/>
        </p:nvSpPr>
        <p:spPr>
          <a:xfrm>
            <a:off x="5833872" y="1865376"/>
            <a:ext cx="2743200" cy="256032"/>
          </a:xfrm>
          <a:prstGeom prst="rect">
            <a:avLst/>
          </a:prstGeom>
          <a:noFill/>
          <a:ln/>
        </p:spPr>
        <p:txBody>
          <a:bodyPr wrap="square" rtlCol="0" anchor="ctr"/>
          <a:lstStyle/>
          <a:p>
            <a:pPr indent="0" marL="0">
              <a:buNone/>
            </a:pPr>
            <a:r>
              <a:rPr lang="en-US" sz="1000" dirty="0">
                <a:solidFill>
                  <a:srgbClr val="92400E"/>
                </a:solidFill>
                <a:latin typeface="Calibri" pitchFamily="34" charset="0"/>
                <a:ea typeface="Calibri" pitchFamily="34" charset="-122"/>
                <a:cs typeface="Calibri" pitchFamily="34" charset="-120"/>
              </a:rPr>
              <a:t>Score: 0.6090   |   Risk: MEDIUM</a:t>
            </a:r>
            <a:endParaRPr lang="en-US" sz="1000" dirty="0"/>
          </a:p>
        </p:txBody>
      </p:sp>
      <p:sp>
        <p:nvSpPr>
          <p:cNvPr id="11" name="Shape 8"/>
          <p:cNvSpPr/>
          <p:nvPr/>
        </p:nvSpPr>
        <p:spPr>
          <a:xfrm>
            <a:off x="5715000" y="2331720"/>
            <a:ext cx="3017520" cy="658368"/>
          </a:xfrm>
          <a:prstGeom prst="roundRect">
            <a:avLst>
              <a:gd name="adj" fmla="val 8333"/>
            </a:avLst>
          </a:prstGeom>
          <a:solidFill>
            <a:srgbClr val="FFF8E1"/>
          </a:solidFill>
          <a:ln/>
        </p:spPr>
      </p:sp>
      <p:sp>
        <p:nvSpPr>
          <p:cNvPr id="12" name="Text 9"/>
          <p:cNvSpPr/>
          <p:nvPr/>
        </p:nvSpPr>
        <p:spPr>
          <a:xfrm>
            <a:off x="5833872" y="2386584"/>
            <a:ext cx="2743200" cy="256032"/>
          </a:xfrm>
          <a:prstGeom prst="rect">
            <a:avLst/>
          </a:prstGeom>
          <a:noFill/>
          <a:ln/>
        </p:spPr>
        <p:txBody>
          <a:bodyPr wrap="square" rtlCol="0" anchor="ctr"/>
          <a:lstStyle/>
          <a:p>
            <a:pPr indent="0" marL="0">
              <a:buNone/>
            </a:pPr>
            <a:r>
              <a:rPr lang="en-US" sz="1150" b="1" dirty="0">
                <a:solidFill>
                  <a:srgbClr val="92400E"/>
                </a:solidFill>
                <a:latin typeface="Calibri" pitchFamily="34" charset="0"/>
                <a:ea typeface="Calibri" pitchFamily="34" charset="-122"/>
                <a:cs typeface="Calibri" pitchFamily="34" charset="-120"/>
              </a:rPr>
              <a:t>Claim #433</a:t>
            </a:r>
            <a:endParaRPr lang="en-US" sz="1150" dirty="0"/>
          </a:p>
        </p:txBody>
      </p:sp>
      <p:sp>
        <p:nvSpPr>
          <p:cNvPr id="13" name="Text 10"/>
          <p:cNvSpPr/>
          <p:nvPr/>
        </p:nvSpPr>
        <p:spPr>
          <a:xfrm>
            <a:off x="5833872" y="2642616"/>
            <a:ext cx="2743200" cy="256032"/>
          </a:xfrm>
          <a:prstGeom prst="rect">
            <a:avLst/>
          </a:prstGeom>
          <a:noFill/>
          <a:ln/>
        </p:spPr>
        <p:txBody>
          <a:bodyPr wrap="square" rtlCol="0" anchor="ctr"/>
          <a:lstStyle/>
          <a:p>
            <a:pPr indent="0" marL="0">
              <a:buNone/>
            </a:pPr>
            <a:r>
              <a:rPr lang="en-US" sz="1000" dirty="0">
                <a:solidFill>
                  <a:srgbClr val="92400E"/>
                </a:solidFill>
                <a:latin typeface="Calibri" pitchFamily="34" charset="0"/>
                <a:ea typeface="Calibri" pitchFamily="34" charset="-122"/>
                <a:cs typeface="Calibri" pitchFamily="34" charset="-120"/>
              </a:rPr>
              <a:t>Score: 0.5876   |   Risk: MEDIUM</a:t>
            </a:r>
            <a:endParaRPr lang="en-US" sz="1000" dirty="0"/>
          </a:p>
        </p:txBody>
      </p:sp>
      <p:sp>
        <p:nvSpPr>
          <p:cNvPr id="14" name="Text 11"/>
          <p:cNvSpPr/>
          <p:nvPr/>
        </p:nvSpPr>
        <p:spPr>
          <a:xfrm>
            <a:off x="5715000" y="3200400"/>
            <a:ext cx="3017520" cy="13716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 of 20 claims (10%) flagged for review — consistent with the model's overall behavior on the full 400-claim test set.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Shape 1"/>
          <p:cNvSpPr/>
          <p:nvPr/>
        </p:nvSpPr>
        <p:spPr>
          <a:xfrm>
            <a:off x="0" y="5079492"/>
            <a:ext cx="9144000" cy="64008"/>
          </a:xfrm>
          <a:prstGeom prst="rect">
            <a:avLst/>
          </a:prstGeom>
          <a:solidFill>
            <a:srgbClr val="0D9488"/>
          </a:solidFill>
          <a:ln w="12700">
            <a:solidFill>
              <a:srgbClr val="0D9488"/>
            </a:solidFill>
            <a:prstDash val="solid"/>
          </a:ln>
        </p:spPr>
      </p:sp>
      <p:sp>
        <p:nvSpPr>
          <p:cNvPr id="4" name="Text 2"/>
          <p:cNvSpPr/>
          <p:nvPr/>
        </p:nvSpPr>
        <p:spPr>
          <a:xfrm>
            <a:off x="548640" y="256032"/>
            <a:ext cx="804672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5" name="Shape 3"/>
          <p:cNvSpPr/>
          <p:nvPr/>
        </p:nvSpPr>
        <p:spPr>
          <a:xfrm>
            <a:off x="548640" y="859536"/>
            <a:ext cx="8046720" cy="0"/>
          </a:xfrm>
          <a:prstGeom prst="line">
            <a:avLst/>
          </a:prstGeom>
          <a:noFill/>
          <a:ln w="19050">
            <a:solidFill>
              <a:srgbClr val="0D9488"/>
            </a:solidFill>
            <a:prstDash val="solid"/>
          </a:ln>
        </p:spPr>
      </p:sp>
      <p:sp>
        <p:nvSpPr>
          <p:cNvPr id="6" name="Shape 4"/>
          <p:cNvSpPr/>
          <p:nvPr/>
        </p:nvSpPr>
        <p:spPr>
          <a:xfrm>
            <a:off x="548640" y="1005840"/>
            <a:ext cx="8046720" cy="841248"/>
          </a:xfrm>
          <a:prstGeom prst="roundRect">
            <a:avLst>
              <a:gd name="adj" fmla="val 8696"/>
            </a:avLst>
          </a:prstGeom>
          <a:solidFill>
            <a:srgbClr val="112033"/>
          </a:solidFill>
          <a:ln/>
          <a:effectLst>
            <a:outerShdw sx="100000" sy="100000" kx="0" ky="0" algn="bl" rotWithShape="0" blurRad="76200" dist="25400" dir="2700000">
              <a:srgbClr val="000000">
                <a:alpha val="13000"/>
              </a:srgbClr>
            </a:outerShdw>
          </a:effectLst>
        </p:spPr>
      </p:sp>
      <p:sp>
        <p:nvSpPr>
          <p:cNvPr id="7" name="Shape 5"/>
          <p:cNvSpPr/>
          <p:nvPr/>
        </p:nvSpPr>
        <p:spPr>
          <a:xfrm>
            <a:off x="676656" y="1188720"/>
            <a:ext cx="384048" cy="384048"/>
          </a:xfrm>
          <a:prstGeom prst="ellipse">
            <a:avLst/>
          </a:prstGeom>
          <a:solidFill>
            <a:srgbClr val="0D9488"/>
          </a:solidFill>
          <a:ln w="12700">
            <a:solidFill>
              <a:srgbClr val="0D9488"/>
            </a:solidFill>
            <a:prstDash val="solid"/>
          </a:ln>
        </p:spPr>
      </p:sp>
      <p:sp>
        <p:nvSpPr>
          <p:cNvPr id="8" name="Text 6"/>
          <p:cNvSpPr/>
          <p:nvPr/>
        </p:nvSpPr>
        <p:spPr>
          <a:xfrm>
            <a:off x="676656" y="1188720"/>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170432" y="1097280"/>
            <a:ext cx="7315200" cy="67665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model achieved 0.972 ROC-AUC and 94% accuracy </a:t>
            </a:r>
            <a:pPr indent="0" marL="0">
              <a:buNone/>
            </a:pPr>
            <a:r>
              <a:rPr lang="en-US" sz="1100" dirty="0">
                <a:solidFill>
                  <a:srgbClr val="AABFD6"/>
                </a:solidFill>
                <a:latin typeface="Calibri" pitchFamily="34" charset="0"/>
                <a:ea typeface="Calibri" pitchFamily="34" charset="-122"/>
                <a:cs typeface="Calibri" pitchFamily="34" charset="-120"/>
              </a:rPr>
              <a:t>on real held-out test data — strong, genuine, and reproducible performance.</a:t>
            </a:r>
            <a:endParaRPr lang="en-US" sz="1100" dirty="0"/>
          </a:p>
        </p:txBody>
      </p:sp>
      <p:sp>
        <p:nvSpPr>
          <p:cNvPr id="10" name="Shape 8"/>
          <p:cNvSpPr/>
          <p:nvPr/>
        </p:nvSpPr>
        <p:spPr>
          <a:xfrm>
            <a:off x="548640" y="1984248"/>
            <a:ext cx="8046720" cy="841248"/>
          </a:xfrm>
          <a:prstGeom prst="roundRect">
            <a:avLst>
              <a:gd name="adj" fmla="val 8696"/>
            </a:avLst>
          </a:prstGeom>
          <a:solidFill>
            <a:srgbClr val="112033"/>
          </a:solidFill>
          <a:ln/>
          <a:effectLst>
            <a:outerShdw sx="100000" sy="100000" kx="0" ky="0" algn="bl" rotWithShape="0" blurRad="76200" dist="25400" dir="2700000">
              <a:srgbClr val="000000">
                <a:alpha val="13000"/>
              </a:srgbClr>
            </a:outerShdw>
          </a:effectLst>
        </p:spPr>
      </p:sp>
      <p:sp>
        <p:nvSpPr>
          <p:cNvPr id="11" name="Shape 9"/>
          <p:cNvSpPr/>
          <p:nvPr/>
        </p:nvSpPr>
        <p:spPr>
          <a:xfrm>
            <a:off x="676656" y="2167128"/>
            <a:ext cx="384048" cy="384048"/>
          </a:xfrm>
          <a:prstGeom prst="ellipse">
            <a:avLst/>
          </a:prstGeom>
          <a:solidFill>
            <a:srgbClr val="0D9488"/>
          </a:solidFill>
          <a:ln w="12700">
            <a:solidFill>
              <a:srgbClr val="0D9488"/>
            </a:solidFill>
            <a:prstDash val="solid"/>
          </a:ln>
        </p:spPr>
      </p:sp>
      <p:sp>
        <p:nvSpPr>
          <p:cNvPr id="12" name="Text 10"/>
          <p:cNvSpPr/>
          <p:nvPr/>
        </p:nvSpPr>
        <p:spPr>
          <a:xfrm>
            <a:off x="676656" y="2167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170432" y="2075688"/>
            <a:ext cx="7315200" cy="67665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89% anomaly recall with 51% precision is the right tradeoff </a:t>
            </a:r>
            <a:pPr indent="0" marL="0">
              <a:buNone/>
            </a:pPr>
            <a:r>
              <a:rPr lang="en-US" sz="1100" dirty="0">
                <a:solidFill>
                  <a:srgbClr val="AABFD6"/>
                </a:solidFill>
                <a:latin typeface="Calibri" pitchFamily="34" charset="0"/>
                <a:ea typeface="Calibri" pitchFamily="34" charset="-122"/>
                <a:cs typeface="Calibri" pitchFamily="34" charset="-120"/>
              </a:rPr>
              <a:t>for fraud detection — better to over-flag for human review than miss real fraud.</a:t>
            </a:r>
            <a:endParaRPr lang="en-US" sz="1100" dirty="0"/>
          </a:p>
        </p:txBody>
      </p:sp>
      <p:sp>
        <p:nvSpPr>
          <p:cNvPr id="14" name="Shape 12"/>
          <p:cNvSpPr/>
          <p:nvPr/>
        </p:nvSpPr>
        <p:spPr>
          <a:xfrm>
            <a:off x="548640" y="2962656"/>
            <a:ext cx="8046720" cy="841248"/>
          </a:xfrm>
          <a:prstGeom prst="roundRect">
            <a:avLst>
              <a:gd name="adj" fmla="val 8696"/>
            </a:avLst>
          </a:prstGeom>
          <a:solidFill>
            <a:srgbClr val="112033"/>
          </a:solidFill>
          <a:ln/>
          <a:effectLst>
            <a:outerShdw sx="100000" sy="100000" kx="0" ky="0" algn="bl" rotWithShape="0" blurRad="76200" dist="25400" dir="2700000">
              <a:srgbClr val="000000">
                <a:alpha val="13000"/>
              </a:srgbClr>
            </a:outerShdw>
          </a:effectLst>
        </p:spPr>
      </p:sp>
      <p:sp>
        <p:nvSpPr>
          <p:cNvPr id="15" name="Shape 13"/>
          <p:cNvSpPr/>
          <p:nvPr/>
        </p:nvSpPr>
        <p:spPr>
          <a:xfrm>
            <a:off x="676656" y="3145536"/>
            <a:ext cx="384048" cy="384048"/>
          </a:xfrm>
          <a:prstGeom prst="ellipse">
            <a:avLst/>
          </a:prstGeom>
          <a:solidFill>
            <a:srgbClr val="0D9488"/>
          </a:solidFill>
          <a:ln w="12700">
            <a:solidFill>
              <a:srgbClr val="0D9488"/>
            </a:solidFill>
            <a:prstDash val="solid"/>
          </a:ln>
        </p:spPr>
      </p:sp>
      <p:sp>
        <p:nvSpPr>
          <p:cNvPr id="16" name="Text 14"/>
          <p:cNvSpPr/>
          <p:nvPr/>
        </p:nvSpPr>
        <p:spPr>
          <a:xfrm>
            <a:off x="676656" y="314553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170432" y="3054096"/>
            <a:ext cx="7315200" cy="67665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SHAP and RAG make every decision auditable. </a:t>
            </a:r>
            <a:pPr indent="0" marL="0">
              <a:buNone/>
            </a:pPr>
            <a:r>
              <a:rPr lang="en-US" sz="1100" dirty="0">
                <a:solidFill>
                  <a:srgbClr val="AABFD6"/>
                </a:solidFill>
                <a:latin typeface="Calibri" pitchFamily="34" charset="0"/>
                <a:ea typeface="Calibri" pitchFamily="34" charset="-122"/>
                <a:cs typeface="Calibri" pitchFamily="34" charset="-120"/>
              </a:rPr>
              <a:t>billed_to_allowed_ratio dominates with SHAP +5.06 — exactly the signal a reviewer needs.</a:t>
            </a:r>
            <a:endParaRPr lang="en-US" sz="1100" dirty="0"/>
          </a:p>
        </p:txBody>
      </p:sp>
      <p:sp>
        <p:nvSpPr>
          <p:cNvPr id="18" name="Shape 16"/>
          <p:cNvSpPr/>
          <p:nvPr/>
        </p:nvSpPr>
        <p:spPr>
          <a:xfrm>
            <a:off x="548640" y="3941064"/>
            <a:ext cx="8046720" cy="841248"/>
          </a:xfrm>
          <a:prstGeom prst="roundRect">
            <a:avLst>
              <a:gd name="adj" fmla="val 8696"/>
            </a:avLst>
          </a:prstGeom>
          <a:solidFill>
            <a:srgbClr val="112033"/>
          </a:solidFill>
          <a:ln/>
          <a:effectLst>
            <a:outerShdw sx="100000" sy="100000" kx="0" ky="0" algn="bl" rotWithShape="0" blurRad="76200" dist="25400" dir="2700000">
              <a:srgbClr val="000000">
                <a:alpha val="13000"/>
              </a:srgbClr>
            </a:outerShdw>
          </a:effectLst>
        </p:spPr>
      </p:sp>
      <p:sp>
        <p:nvSpPr>
          <p:cNvPr id="19" name="Shape 17"/>
          <p:cNvSpPr/>
          <p:nvPr/>
        </p:nvSpPr>
        <p:spPr>
          <a:xfrm>
            <a:off x="676656" y="4123944"/>
            <a:ext cx="384048" cy="384048"/>
          </a:xfrm>
          <a:prstGeom prst="ellipse">
            <a:avLst/>
          </a:prstGeom>
          <a:solidFill>
            <a:srgbClr val="0D9488"/>
          </a:solidFill>
          <a:ln w="12700">
            <a:solidFill>
              <a:srgbClr val="0D9488"/>
            </a:solidFill>
            <a:prstDash val="solid"/>
          </a:ln>
        </p:spPr>
      </p:sp>
      <p:sp>
        <p:nvSpPr>
          <p:cNvPr id="20" name="Text 18"/>
          <p:cNvSpPr/>
          <p:nvPr/>
        </p:nvSpPr>
        <p:spPr>
          <a:xfrm>
            <a:off x="676656" y="41239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0432" y="4032504"/>
            <a:ext cx="7315200" cy="67665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pipeline discriminates with massive confidence: </a:t>
            </a:r>
            <a:pPr indent="0" marL="0">
              <a:buNone/>
            </a:pPr>
            <a:r>
              <a:rPr lang="en-US" sz="1100" dirty="0">
                <a:solidFill>
                  <a:srgbClr val="AABFD6"/>
                </a:solidFill>
                <a:latin typeface="Calibri" pitchFamily="34" charset="0"/>
                <a:ea typeface="Calibri" pitchFamily="34" charset="-122"/>
                <a:cs typeface="Calibri" pitchFamily="34" charset="-120"/>
              </a:rPr>
              <a:t>0.9683 for the fraudulent-pattern claim vs 0.0006 for the clean claim.</a:t>
            </a:r>
            <a:endParaRPr lang="en-US" sz="1100" dirty="0"/>
          </a:p>
        </p:txBody>
      </p:sp>
      <p:sp>
        <p:nvSpPr>
          <p:cNvPr id="22" name="Text 20"/>
          <p:cNvSpPr/>
          <p:nvPr/>
        </p:nvSpPr>
        <p:spPr>
          <a:xfrm>
            <a:off x="548640" y="4773168"/>
            <a:ext cx="804672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Sree Vardhan Sunkara  |  sreevardhan23@gmail.com  |  University of Houston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Decision Making &amp; Pattern Recognition — Cotiviti POC</dc:title>
  <dc:subject>PptxGenJS Presentation</dc:subject>
  <dc:creator>Sree Vardhan Sunkara</dc:creator>
  <cp:lastModifiedBy>Sree Vardhan Sunkara</cp:lastModifiedBy>
  <cp:revision>1</cp:revision>
  <dcterms:created xsi:type="dcterms:W3CDTF">2026-06-30T16:13:31Z</dcterms:created>
  <dcterms:modified xsi:type="dcterms:W3CDTF">2026-06-30T16:13:31Z</dcterms:modified>
</cp:coreProperties>
</file>